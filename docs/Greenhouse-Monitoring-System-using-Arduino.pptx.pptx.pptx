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Baron Bold" charset="1" panose="020B0000000000000000"/>
      <p:regular r:id="rId28"/>
    </p:embeddedFont>
    <p:embeddedFont>
      <p:font typeface="PT Sans Bold" charset="1" panose="020B0703020203020204"/>
      <p:regular r:id="rId29"/>
    </p:embeddedFont>
    <p:embeddedFont>
      <p:font typeface="PT Sans" charset="1" panose="020B0503020203020204"/>
      <p:regular r:id="rId30"/>
    </p:embeddedFont>
    <p:embeddedFont>
      <p:font typeface="Nunito Bold" charset="1" panose="00000000000000000000"/>
      <p:regular r:id="rId32"/>
    </p:embeddedFont>
    <p:embeddedFont>
      <p:font typeface="Arimo" charset="1" panose="020B0604020202020204"/>
      <p:regular r:id="rId43"/>
    </p:embeddedFont>
    <p:embeddedFont>
      <p:font typeface="Canva Sans" charset="1" panose="020B0503030501040103"/>
      <p:regular r:id="rId45"/>
    </p:embeddedFont>
    <p:embeddedFont>
      <p:font typeface="Fredoka" charset="1" panose="02000000000000000000"/>
      <p:regular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notesMasters/notesMaster1.xml" Type="http://schemas.openxmlformats.org/officeDocument/2006/relationships/notesMaster"/><Relationship Id="rId26" Target="theme/theme2.xml" Type="http://schemas.openxmlformats.org/officeDocument/2006/relationships/theme"/><Relationship Id="rId27" Target="notesSlides/notesSlide1.xml" Type="http://schemas.openxmlformats.org/officeDocument/2006/relationships/note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notesSlides/notesSlide2.xml" Type="http://schemas.openxmlformats.org/officeDocument/2006/relationships/notesSlide"/><Relationship Id="rId32" Target="fonts/font32.fntdata" Type="http://schemas.openxmlformats.org/officeDocument/2006/relationships/font"/><Relationship Id="rId33" Target="notesSlides/notesSlide3.xml" Type="http://schemas.openxmlformats.org/officeDocument/2006/relationships/notesSlide"/><Relationship Id="rId34" Target="notesSlides/notesSlide4.xml" Type="http://schemas.openxmlformats.org/officeDocument/2006/relationships/notesSlide"/><Relationship Id="rId35" Target="notesSlides/notesSlide5.xml" Type="http://schemas.openxmlformats.org/officeDocument/2006/relationships/notesSlide"/><Relationship Id="rId36" Target="notesSlides/notesSlide6.xml" Type="http://schemas.openxmlformats.org/officeDocument/2006/relationships/notesSlide"/><Relationship Id="rId37" Target="notesSlides/notesSlide7.xml" Type="http://schemas.openxmlformats.org/officeDocument/2006/relationships/notesSlide"/><Relationship Id="rId38" Target="notesSlides/notesSlide8.xml" Type="http://schemas.openxmlformats.org/officeDocument/2006/relationships/notesSlide"/><Relationship Id="rId39" Target="notesSlides/notesSlide9.xml" Type="http://schemas.openxmlformats.org/officeDocument/2006/relationships/notesSlide"/><Relationship Id="rId4" Target="theme/theme1.xml" Type="http://schemas.openxmlformats.org/officeDocument/2006/relationships/theme"/><Relationship Id="rId40" Target="notesSlides/notesSlide10.xml" Type="http://schemas.openxmlformats.org/officeDocument/2006/relationships/notesSlide"/><Relationship Id="rId41" Target="notesSlides/notesSlide11.xml" Type="http://schemas.openxmlformats.org/officeDocument/2006/relationships/notesSlide"/><Relationship Id="rId42" Target="notesSlides/notesSlide12.xml" Type="http://schemas.openxmlformats.org/officeDocument/2006/relationships/notesSlide"/><Relationship Id="rId43" Target="fonts/font43.fntdata" Type="http://schemas.openxmlformats.org/officeDocument/2006/relationships/font"/><Relationship Id="rId44" Target="notesSlides/notesSlide13.xml" Type="http://schemas.openxmlformats.org/officeDocument/2006/relationships/notesSlide"/><Relationship Id="rId45" Target="fonts/font45.fntdata" Type="http://schemas.openxmlformats.org/officeDocument/2006/relationships/font"/><Relationship Id="rId46" Target="notesSlides/notesSlide14.xml" Type="http://schemas.openxmlformats.org/officeDocument/2006/relationships/notesSlide"/><Relationship Id="rId47" Target="notesSlides/notesSlide15.xml" Type="http://schemas.openxmlformats.org/officeDocument/2006/relationships/notesSlide"/><Relationship Id="rId48" Target="notesSlides/notesSlide16.xml" Type="http://schemas.openxmlformats.org/officeDocument/2006/relationships/notesSlide"/><Relationship Id="rId49" Target="fonts/font49.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 Id="rId4"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 Id="rId4" Target="../media/image1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png" Type="http://schemas.openxmlformats.org/officeDocument/2006/relationships/image"/><Relationship Id="rId4" Target="../media/image2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png" Type="http://schemas.openxmlformats.org/officeDocument/2006/relationships/image"/><Relationship Id="rId4" Target="https://www.arduino.cc/" TargetMode="External" Type="http://schemas.openxmlformats.org/officeDocument/2006/relationships/hyperlink"/><Relationship Id="rId5" Target="https://www.preprints.org/manuscript/202309.0277/v1" TargetMode="External" Type="http://schemas.openxmlformats.org/officeDocument/2006/relationships/hyperlink"/><Relationship Id="rId6" Target="https://www.researchgate.net/publication/378689302_Analyzing_the_efficiency_of_Arduino_UNO_microcontroller_in_monitoring_and_controlling_the_microclimatic_parameters_of_greenhouse?enrichId=rgreq-b5b11963439a31b39867b9c01ec8a159-XXX&amp;enrichSource=Y292ZXJQYWdlOzM3ODY4OTMwMjtBUzoxMTQzMTI4MTIyNzg5NTMyMkAxNzA5Nzk1MzA0NTgx&amp;el=1_x_3" TargetMode="External" Type="http://schemas.openxmlformats.org/officeDocument/2006/relationships/hyperlink"/><Relationship Id="rId7" Target="https://www.sciencedirect.com/science/article/pii/S187705091930064X" TargetMode="External" Type="http://schemas.openxmlformats.org/officeDocument/2006/relationships/hyperlink"/><Relationship Id="rId8" Target="https://www.researchgate.net/publication/389483978_AI-Powered_Smart_Greenhouses_for_Climate_Control_and_Crop_Growth_Optimization?enrichId=rgreq-46beaf0221d0792a8d1de6d9c9d1e096-XXX&amp;enrichSource=Y292ZXJQYWdlOzM4OTQ4Mzk3ODtBUzoxMTQzMTI4MTMxMjY4OTM0MEAxNzQwODU2Mjg2NTc4&amp;el=1_x_3&amp;_esc=publicationCoverPdf" TargetMode="External" Type="http://schemas.openxmlformats.org/officeDocument/2006/relationships/hyperlink"/></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3F3FF">
                <a:alpha val="31373"/>
              </a:srgbClr>
            </a:solidFill>
          </p:spPr>
        </p:sp>
      </p:grpSp>
      <p:grpSp>
        <p:nvGrpSpPr>
          <p:cNvPr name="Group 6" id="6"/>
          <p:cNvGrpSpPr/>
          <p:nvPr/>
        </p:nvGrpSpPr>
        <p:grpSpPr>
          <a:xfrm rot="0">
            <a:off x="1143000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4"/>
              <a:stretch>
                <a:fillRect l="0" t="0" r="0" b="0"/>
              </a:stretch>
            </a:blipFill>
          </p:spPr>
        </p:sp>
      </p:grpSp>
      <p:grpSp>
        <p:nvGrpSpPr>
          <p:cNvPr name="Group 8" id="8"/>
          <p:cNvGrpSpPr/>
          <p:nvPr/>
        </p:nvGrpSpPr>
        <p:grpSpPr>
          <a:xfrm rot="0">
            <a:off x="602208" y="1054721"/>
            <a:ext cx="9957205" cy="1856498"/>
            <a:chOff x="0" y="0"/>
            <a:chExt cx="13276273" cy="2475331"/>
          </a:xfrm>
        </p:grpSpPr>
        <p:sp>
          <p:nvSpPr>
            <p:cNvPr name="Freeform 9" id="9"/>
            <p:cNvSpPr/>
            <p:nvPr/>
          </p:nvSpPr>
          <p:spPr>
            <a:xfrm flipH="false" flipV="false" rot="0">
              <a:off x="0" y="0"/>
              <a:ext cx="13276326" cy="2475357"/>
            </a:xfrm>
            <a:custGeom>
              <a:avLst/>
              <a:gdLst/>
              <a:ahLst/>
              <a:cxnLst/>
              <a:rect r="r" b="b" t="t" l="l"/>
              <a:pathLst>
                <a:path h="2475357" w="13276326">
                  <a:moveTo>
                    <a:pt x="0" y="0"/>
                  </a:moveTo>
                  <a:lnTo>
                    <a:pt x="13276326" y="0"/>
                  </a:lnTo>
                  <a:lnTo>
                    <a:pt x="13276326" y="2475357"/>
                  </a:lnTo>
                  <a:lnTo>
                    <a:pt x="0" y="2475357"/>
                  </a:lnTo>
                  <a:close/>
                </a:path>
              </a:pathLst>
            </a:custGeom>
            <a:gradFill rotWithShape="true">
              <a:gsLst>
                <a:gs pos="0">
                  <a:srgbClr val="0CC0DF">
                    <a:alpha val="0"/>
                  </a:srgbClr>
                </a:gs>
                <a:gs pos="100000">
                  <a:srgbClr val="FFDE59">
                    <a:alpha val="0"/>
                  </a:srgbClr>
                </a:gs>
              </a:gsLst>
              <a:lin ang="0"/>
            </a:gradFill>
          </p:spPr>
        </p:sp>
      </p:grpSp>
      <p:grpSp>
        <p:nvGrpSpPr>
          <p:cNvPr name="Group 10" id="10"/>
          <p:cNvGrpSpPr/>
          <p:nvPr/>
        </p:nvGrpSpPr>
        <p:grpSpPr>
          <a:xfrm rot="0">
            <a:off x="602208" y="1026146"/>
            <a:ext cx="9957205" cy="1885073"/>
            <a:chOff x="0" y="0"/>
            <a:chExt cx="13276273" cy="2513431"/>
          </a:xfrm>
        </p:grpSpPr>
        <p:sp>
          <p:nvSpPr>
            <p:cNvPr name="Freeform 11" id="11"/>
            <p:cNvSpPr/>
            <p:nvPr/>
          </p:nvSpPr>
          <p:spPr>
            <a:xfrm flipH="false" flipV="false" rot="0">
              <a:off x="0" y="0"/>
              <a:ext cx="13276273" cy="2513431"/>
            </a:xfrm>
            <a:custGeom>
              <a:avLst/>
              <a:gdLst/>
              <a:ahLst/>
              <a:cxnLst/>
              <a:rect r="r" b="b" t="t" l="l"/>
              <a:pathLst>
                <a:path h="2513431" w="13276273">
                  <a:moveTo>
                    <a:pt x="0" y="0"/>
                  </a:moveTo>
                  <a:lnTo>
                    <a:pt x="13276273" y="0"/>
                  </a:lnTo>
                  <a:lnTo>
                    <a:pt x="13276273" y="2513431"/>
                  </a:lnTo>
                  <a:lnTo>
                    <a:pt x="0" y="2513431"/>
                  </a:lnTo>
                  <a:close/>
                </a:path>
              </a:pathLst>
            </a:custGeom>
            <a:solidFill>
              <a:srgbClr val="000000">
                <a:alpha val="0"/>
              </a:srgbClr>
            </a:solidFill>
          </p:spPr>
        </p:sp>
        <p:sp>
          <p:nvSpPr>
            <p:cNvPr name="TextBox 12" id="12"/>
            <p:cNvSpPr txBox="true"/>
            <p:nvPr/>
          </p:nvSpPr>
          <p:spPr>
            <a:xfrm>
              <a:off x="0" y="-38100"/>
              <a:ext cx="13276273" cy="2551531"/>
            </a:xfrm>
            <a:prstGeom prst="rect">
              <a:avLst/>
            </a:prstGeom>
          </p:spPr>
          <p:txBody>
            <a:bodyPr anchor="t" rtlCol="false" tIns="0" lIns="0" bIns="0" rIns="0"/>
            <a:lstStyle/>
            <a:p>
              <a:pPr algn="ctr">
                <a:lnSpc>
                  <a:spcPts val="6750"/>
                </a:lnSpc>
              </a:pPr>
              <a:r>
                <a:rPr lang="en-US" sz="5400" b="true">
                  <a:solidFill>
                    <a:srgbClr val="00002E"/>
                  </a:solidFill>
                  <a:latin typeface="Baron Bold"/>
                  <a:ea typeface="Baron Bold"/>
                  <a:cs typeface="Baron Bold"/>
                  <a:sym typeface="Baron Bold"/>
                </a:rPr>
                <a:t>Greenhouse Monitoring System </a:t>
              </a:r>
            </a:p>
          </p:txBody>
        </p:sp>
      </p:grpSp>
      <p:grpSp>
        <p:nvGrpSpPr>
          <p:cNvPr name="Group 13" id="13"/>
          <p:cNvGrpSpPr/>
          <p:nvPr/>
        </p:nvGrpSpPr>
        <p:grpSpPr>
          <a:xfrm rot="0">
            <a:off x="884061" y="2973188"/>
            <a:ext cx="11922747" cy="706968"/>
            <a:chOff x="0" y="0"/>
            <a:chExt cx="15896996" cy="942624"/>
          </a:xfrm>
        </p:grpSpPr>
        <p:sp>
          <p:nvSpPr>
            <p:cNvPr name="Freeform 14" id="14"/>
            <p:cNvSpPr/>
            <p:nvPr/>
          </p:nvSpPr>
          <p:spPr>
            <a:xfrm flipH="false" flipV="false" rot="0">
              <a:off x="0" y="0"/>
              <a:ext cx="15896996" cy="942624"/>
            </a:xfrm>
            <a:custGeom>
              <a:avLst/>
              <a:gdLst/>
              <a:ahLst/>
              <a:cxnLst/>
              <a:rect r="r" b="b" t="t" l="l"/>
              <a:pathLst>
                <a:path h="942624" w="15896996">
                  <a:moveTo>
                    <a:pt x="0" y="0"/>
                  </a:moveTo>
                  <a:lnTo>
                    <a:pt x="15896996" y="0"/>
                  </a:lnTo>
                  <a:lnTo>
                    <a:pt x="15896996" y="942624"/>
                  </a:lnTo>
                  <a:lnTo>
                    <a:pt x="0" y="942624"/>
                  </a:lnTo>
                  <a:close/>
                </a:path>
              </a:pathLst>
            </a:custGeom>
            <a:solidFill>
              <a:srgbClr val="000000">
                <a:alpha val="0"/>
              </a:srgbClr>
            </a:solidFill>
          </p:spPr>
        </p:sp>
        <p:sp>
          <p:nvSpPr>
            <p:cNvPr name="TextBox 15" id="15"/>
            <p:cNvSpPr txBox="true"/>
            <p:nvPr/>
          </p:nvSpPr>
          <p:spPr>
            <a:xfrm>
              <a:off x="0" y="-114300"/>
              <a:ext cx="15896996" cy="1056924"/>
            </a:xfrm>
            <a:prstGeom prst="rect">
              <a:avLst/>
            </a:prstGeom>
          </p:spPr>
          <p:txBody>
            <a:bodyPr anchor="t" rtlCol="false" tIns="0" lIns="0" bIns="0" rIns="0"/>
            <a:lstStyle/>
            <a:p>
              <a:pPr algn="l">
                <a:lnSpc>
                  <a:spcPts val="5026"/>
                </a:lnSpc>
              </a:pPr>
              <a:r>
                <a:rPr lang="en-US" sz="3150" b="true">
                  <a:solidFill>
                    <a:srgbClr val="00002E"/>
                  </a:solidFill>
                  <a:latin typeface="PT Sans Bold"/>
                  <a:ea typeface="PT Sans Bold"/>
                  <a:cs typeface="PT Sans Bold"/>
                  <a:sym typeface="PT Sans Bold"/>
                </a:rPr>
                <a:t>Affiliated to</a:t>
              </a:r>
              <a:r>
                <a:rPr lang="en-US" sz="3150">
                  <a:solidFill>
                    <a:srgbClr val="00002E"/>
                  </a:solidFill>
                  <a:latin typeface="PT Sans"/>
                  <a:ea typeface="PT Sans"/>
                  <a:cs typeface="PT Sans"/>
                  <a:sym typeface="PT Sans"/>
                </a:rPr>
                <a:t>: DR/ El-Shimaa Nabil</a:t>
              </a:r>
            </a:p>
          </p:txBody>
        </p:sp>
      </p:grpSp>
      <p:grpSp>
        <p:nvGrpSpPr>
          <p:cNvPr name="Group 16" id="16"/>
          <p:cNvGrpSpPr/>
          <p:nvPr/>
        </p:nvGrpSpPr>
        <p:grpSpPr>
          <a:xfrm rot="0">
            <a:off x="116042" y="9424097"/>
            <a:ext cx="9027958" cy="1179569"/>
            <a:chOff x="0" y="0"/>
            <a:chExt cx="12037277" cy="1572759"/>
          </a:xfrm>
        </p:grpSpPr>
        <p:sp>
          <p:nvSpPr>
            <p:cNvPr name="Freeform 17" id="17"/>
            <p:cNvSpPr/>
            <p:nvPr/>
          </p:nvSpPr>
          <p:spPr>
            <a:xfrm flipH="false" flipV="false" rot="0">
              <a:off x="0" y="0"/>
              <a:ext cx="12037278" cy="1572759"/>
            </a:xfrm>
            <a:custGeom>
              <a:avLst/>
              <a:gdLst/>
              <a:ahLst/>
              <a:cxnLst/>
              <a:rect r="r" b="b" t="t" l="l"/>
              <a:pathLst>
                <a:path h="1572759" w="12037278">
                  <a:moveTo>
                    <a:pt x="0" y="0"/>
                  </a:moveTo>
                  <a:lnTo>
                    <a:pt x="12037278" y="0"/>
                  </a:lnTo>
                  <a:lnTo>
                    <a:pt x="12037278" y="1572759"/>
                  </a:lnTo>
                  <a:lnTo>
                    <a:pt x="0" y="1572759"/>
                  </a:lnTo>
                  <a:close/>
                </a:path>
              </a:pathLst>
            </a:custGeom>
            <a:solidFill>
              <a:srgbClr val="000000">
                <a:alpha val="0"/>
              </a:srgbClr>
            </a:solidFill>
          </p:spPr>
        </p:sp>
        <p:sp>
          <p:nvSpPr>
            <p:cNvPr name="TextBox 18" id="18"/>
            <p:cNvSpPr txBox="true"/>
            <p:nvPr/>
          </p:nvSpPr>
          <p:spPr>
            <a:xfrm>
              <a:off x="0" y="-114300"/>
              <a:ext cx="12037277" cy="1687059"/>
            </a:xfrm>
            <a:prstGeom prst="rect">
              <a:avLst/>
            </a:prstGeom>
          </p:spPr>
          <p:txBody>
            <a:bodyPr anchor="t" rtlCol="false" tIns="0" lIns="0" bIns="0" rIns="0"/>
            <a:lstStyle/>
            <a:p>
              <a:pPr algn="l">
                <a:lnSpc>
                  <a:spcPts val="4702"/>
                </a:lnSpc>
              </a:pPr>
              <a:r>
                <a:rPr lang="en-US" sz="2900">
                  <a:solidFill>
                    <a:srgbClr val="00002E"/>
                  </a:solidFill>
                  <a:latin typeface="PT Sans"/>
                  <a:ea typeface="PT Sans"/>
                  <a:cs typeface="PT Sans"/>
                  <a:sym typeface="PT Sans"/>
                </a:rPr>
                <a:t>   Electronics and Communication Department  </a:t>
              </a:r>
            </a:p>
          </p:txBody>
        </p:sp>
      </p:grpSp>
      <p:grpSp>
        <p:nvGrpSpPr>
          <p:cNvPr name="Group 19" id="19"/>
          <p:cNvGrpSpPr/>
          <p:nvPr/>
        </p:nvGrpSpPr>
        <p:grpSpPr>
          <a:xfrm rot="0">
            <a:off x="9017437" y="9515256"/>
            <a:ext cx="2115353" cy="540075"/>
            <a:chOff x="0" y="0"/>
            <a:chExt cx="2820471" cy="720100"/>
          </a:xfrm>
        </p:grpSpPr>
        <p:sp>
          <p:nvSpPr>
            <p:cNvPr name="Freeform 20" id="20"/>
            <p:cNvSpPr/>
            <p:nvPr/>
          </p:nvSpPr>
          <p:spPr>
            <a:xfrm flipH="false" flipV="false" rot="0">
              <a:off x="0" y="0"/>
              <a:ext cx="2820471" cy="720100"/>
            </a:xfrm>
            <a:custGeom>
              <a:avLst/>
              <a:gdLst/>
              <a:ahLst/>
              <a:cxnLst/>
              <a:rect r="r" b="b" t="t" l="l"/>
              <a:pathLst>
                <a:path h="720100" w="2820471">
                  <a:moveTo>
                    <a:pt x="0" y="0"/>
                  </a:moveTo>
                  <a:lnTo>
                    <a:pt x="2820471" y="0"/>
                  </a:lnTo>
                  <a:lnTo>
                    <a:pt x="2820471" y="720100"/>
                  </a:lnTo>
                  <a:lnTo>
                    <a:pt x="0" y="720100"/>
                  </a:lnTo>
                  <a:close/>
                </a:path>
              </a:pathLst>
            </a:custGeom>
            <a:solidFill>
              <a:srgbClr val="000000">
                <a:alpha val="0"/>
              </a:srgbClr>
            </a:solidFill>
          </p:spPr>
        </p:sp>
        <p:sp>
          <p:nvSpPr>
            <p:cNvPr name="TextBox 21" id="21"/>
            <p:cNvSpPr txBox="true"/>
            <p:nvPr/>
          </p:nvSpPr>
          <p:spPr>
            <a:xfrm>
              <a:off x="0" y="-104775"/>
              <a:ext cx="2820471" cy="824875"/>
            </a:xfrm>
            <a:prstGeom prst="rect">
              <a:avLst/>
            </a:prstGeom>
          </p:spPr>
          <p:txBody>
            <a:bodyPr anchor="t" rtlCol="false" tIns="0" lIns="0" bIns="0" rIns="0"/>
            <a:lstStyle/>
            <a:p>
              <a:pPr algn="ctr">
                <a:lnSpc>
                  <a:spcPts val="4627"/>
                </a:lnSpc>
              </a:pPr>
              <a:r>
                <a:rPr lang="en-US" sz="2900">
                  <a:solidFill>
                    <a:srgbClr val="00002E"/>
                  </a:solidFill>
                  <a:latin typeface="PT Sans"/>
                  <a:ea typeface="PT Sans"/>
                  <a:cs typeface="PT Sans"/>
                  <a:sym typeface="PT Sans"/>
                </a:rPr>
                <a:t>27 April 2025</a:t>
              </a:r>
            </a:p>
          </p:txBody>
        </p:sp>
      </p:grpSp>
      <p:grpSp>
        <p:nvGrpSpPr>
          <p:cNvPr name="Group 22" id="22"/>
          <p:cNvGrpSpPr/>
          <p:nvPr/>
        </p:nvGrpSpPr>
        <p:grpSpPr>
          <a:xfrm rot="0">
            <a:off x="884061" y="3732566"/>
            <a:ext cx="7914202" cy="6871100"/>
            <a:chOff x="0" y="0"/>
            <a:chExt cx="10552269" cy="9161467"/>
          </a:xfrm>
        </p:grpSpPr>
        <p:sp>
          <p:nvSpPr>
            <p:cNvPr name="Freeform 23" id="23"/>
            <p:cNvSpPr/>
            <p:nvPr/>
          </p:nvSpPr>
          <p:spPr>
            <a:xfrm flipH="false" flipV="false" rot="0">
              <a:off x="0" y="0"/>
              <a:ext cx="10552269" cy="9161466"/>
            </a:xfrm>
            <a:custGeom>
              <a:avLst/>
              <a:gdLst/>
              <a:ahLst/>
              <a:cxnLst/>
              <a:rect r="r" b="b" t="t" l="l"/>
              <a:pathLst>
                <a:path h="9161466" w="10552269">
                  <a:moveTo>
                    <a:pt x="0" y="0"/>
                  </a:moveTo>
                  <a:lnTo>
                    <a:pt x="10552269" y="0"/>
                  </a:lnTo>
                  <a:lnTo>
                    <a:pt x="10552269" y="9161466"/>
                  </a:lnTo>
                  <a:lnTo>
                    <a:pt x="0" y="9161466"/>
                  </a:lnTo>
                  <a:close/>
                </a:path>
              </a:pathLst>
            </a:custGeom>
            <a:solidFill>
              <a:srgbClr val="000000">
                <a:alpha val="0"/>
              </a:srgbClr>
            </a:solidFill>
          </p:spPr>
        </p:sp>
        <p:sp>
          <p:nvSpPr>
            <p:cNvPr name="TextBox 24" id="24"/>
            <p:cNvSpPr txBox="true"/>
            <p:nvPr/>
          </p:nvSpPr>
          <p:spPr>
            <a:xfrm>
              <a:off x="0" y="-114300"/>
              <a:ext cx="10552269" cy="9275767"/>
            </a:xfrm>
            <a:prstGeom prst="rect">
              <a:avLst/>
            </a:prstGeom>
          </p:spPr>
          <p:txBody>
            <a:bodyPr anchor="t" rtlCol="false" tIns="0" lIns="0" bIns="0" rIns="0"/>
            <a:lstStyle/>
            <a:p>
              <a:pPr algn="l">
                <a:lnSpc>
                  <a:spcPts val="5023"/>
                </a:lnSpc>
              </a:pPr>
              <a:r>
                <a:rPr lang="en-US" sz="3150" b="true">
                  <a:solidFill>
                    <a:srgbClr val="00002E"/>
                  </a:solidFill>
                  <a:latin typeface="PT Sans Bold"/>
                  <a:ea typeface="PT Sans Bold"/>
                  <a:cs typeface="PT Sans Bold"/>
                  <a:sym typeface="PT Sans Bold"/>
                </a:rPr>
                <a:t>Team Members: </a:t>
              </a:r>
            </a:p>
            <a:p>
              <a:pPr algn="l">
                <a:lnSpc>
                  <a:spcPts val="5023"/>
                </a:lnSpc>
              </a:pPr>
              <a:r>
                <a:rPr lang="en-US" sz="3150">
                  <a:solidFill>
                    <a:srgbClr val="00002E"/>
                  </a:solidFill>
                  <a:latin typeface="PT Sans"/>
                  <a:ea typeface="PT Sans"/>
                  <a:cs typeface="PT Sans"/>
                  <a:sym typeface="PT Sans"/>
                </a:rPr>
                <a:t>1- Ebraheem Mohamed Said</a:t>
              </a:r>
            </a:p>
            <a:p>
              <a:pPr algn="l">
                <a:lnSpc>
                  <a:spcPts val="5023"/>
                </a:lnSpc>
              </a:pPr>
              <a:r>
                <a:rPr lang="en-US" sz="3150">
                  <a:solidFill>
                    <a:srgbClr val="00002E"/>
                  </a:solidFill>
                  <a:latin typeface="PT Sans"/>
                  <a:ea typeface="PT Sans"/>
                  <a:cs typeface="PT Sans"/>
                  <a:sym typeface="PT Sans"/>
                </a:rPr>
                <a:t>2- Alaa Ameen Ali</a:t>
              </a:r>
            </a:p>
            <a:p>
              <a:pPr algn="l">
                <a:lnSpc>
                  <a:spcPts val="5023"/>
                </a:lnSpc>
              </a:pPr>
              <a:r>
                <a:rPr lang="en-US" sz="3150">
                  <a:solidFill>
                    <a:srgbClr val="00002E"/>
                  </a:solidFill>
                  <a:latin typeface="PT Sans"/>
                  <a:ea typeface="PT Sans"/>
                  <a:cs typeface="PT Sans"/>
                  <a:sym typeface="PT Sans"/>
                </a:rPr>
                <a:t>3- Alaa Samy Esmail (Team leader)</a:t>
              </a:r>
            </a:p>
            <a:p>
              <a:pPr algn="l">
                <a:lnSpc>
                  <a:spcPts val="5023"/>
                </a:lnSpc>
              </a:pPr>
              <a:r>
                <a:rPr lang="en-US" sz="3150">
                  <a:solidFill>
                    <a:srgbClr val="00002E"/>
                  </a:solidFill>
                  <a:latin typeface="PT Sans"/>
                  <a:ea typeface="PT Sans"/>
                  <a:cs typeface="PT Sans"/>
                  <a:sym typeface="PT Sans"/>
                </a:rPr>
                <a:t>4- Eman Atef Khodary</a:t>
              </a:r>
            </a:p>
            <a:p>
              <a:pPr algn="l">
                <a:lnSpc>
                  <a:spcPts val="5023"/>
                </a:lnSpc>
              </a:pPr>
              <a:r>
                <a:rPr lang="en-US" sz="3150">
                  <a:solidFill>
                    <a:srgbClr val="00002E"/>
                  </a:solidFill>
                  <a:latin typeface="PT Sans"/>
                  <a:ea typeface="PT Sans"/>
                  <a:cs typeface="PT Sans"/>
                  <a:sym typeface="PT Sans"/>
                </a:rPr>
                <a:t>5- Tasneem Ashraf Elsayed</a:t>
              </a:r>
            </a:p>
            <a:p>
              <a:pPr algn="l">
                <a:lnSpc>
                  <a:spcPts val="5023"/>
                </a:lnSpc>
              </a:pPr>
              <a:r>
                <a:rPr lang="en-US" sz="3150">
                  <a:solidFill>
                    <a:srgbClr val="00002E"/>
                  </a:solidFill>
                  <a:latin typeface="PT Sans"/>
                  <a:ea typeface="PT Sans"/>
                  <a:cs typeface="PT Sans"/>
                  <a:sym typeface="PT Sans"/>
                </a:rPr>
                <a:t>6- Menna Tallah Hesham Ebied</a:t>
              </a:r>
            </a:p>
            <a:p>
              <a:pPr algn="l">
                <a:lnSpc>
                  <a:spcPts val="5023"/>
                </a:lnSpc>
              </a:pPr>
              <a:r>
                <a:rPr lang="en-US" sz="3150">
                  <a:solidFill>
                    <a:srgbClr val="00002E"/>
                  </a:solidFill>
                  <a:latin typeface="PT Sans"/>
                  <a:ea typeface="PT Sans"/>
                  <a:cs typeface="PT Sans"/>
                  <a:sym typeface="PT Sans"/>
                </a:rPr>
                <a:t>7- Maha Adel Mohamed</a:t>
              </a:r>
            </a:p>
            <a:p>
              <a:pPr algn="l">
                <a:lnSpc>
                  <a:spcPts val="5023"/>
                </a:lnSpc>
              </a:pPr>
            </a:p>
            <a:p>
              <a:pPr algn="l">
                <a:lnSpc>
                  <a:spcPts val="5023"/>
                </a:lnSpc>
              </a:pPr>
            </a:p>
            <a:p>
              <a:pPr algn="l">
                <a:lnSpc>
                  <a:spcPts val="5023"/>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3F3FF">
                <a:alpha val="31373"/>
              </a:srgbClr>
            </a:solidFill>
          </p:spPr>
        </p:sp>
      </p:grpSp>
      <p:grpSp>
        <p:nvGrpSpPr>
          <p:cNvPr name="Group 6" id="6"/>
          <p:cNvGrpSpPr/>
          <p:nvPr/>
        </p:nvGrpSpPr>
        <p:grpSpPr>
          <a:xfrm rot="0">
            <a:off x="1047155" y="1007269"/>
            <a:ext cx="7040612" cy="1153606"/>
            <a:chOff x="0" y="0"/>
            <a:chExt cx="9387483" cy="1538142"/>
          </a:xfrm>
        </p:grpSpPr>
        <p:sp>
          <p:nvSpPr>
            <p:cNvPr name="Freeform 7" id="7"/>
            <p:cNvSpPr/>
            <p:nvPr/>
          </p:nvSpPr>
          <p:spPr>
            <a:xfrm flipH="false" flipV="false" rot="0">
              <a:off x="0" y="0"/>
              <a:ext cx="9387483" cy="1538142"/>
            </a:xfrm>
            <a:custGeom>
              <a:avLst/>
              <a:gdLst/>
              <a:ahLst/>
              <a:cxnLst/>
              <a:rect r="r" b="b" t="t" l="l"/>
              <a:pathLst>
                <a:path h="1538142" w="9387483">
                  <a:moveTo>
                    <a:pt x="0" y="0"/>
                  </a:moveTo>
                  <a:lnTo>
                    <a:pt x="9387483" y="0"/>
                  </a:lnTo>
                  <a:lnTo>
                    <a:pt x="9387483" y="1538142"/>
                  </a:lnTo>
                  <a:lnTo>
                    <a:pt x="0" y="1538142"/>
                  </a:lnTo>
                  <a:close/>
                </a:path>
              </a:pathLst>
            </a:custGeom>
            <a:solidFill>
              <a:srgbClr val="000000">
                <a:alpha val="0"/>
              </a:srgbClr>
            </a:solidFill>
          </p:spPr>
        </p:sp>
        <p:sp>
          <p:nvSpPr>
            <p:cNvPr name="TextBox 8" id="8"/>
            <p:cNvSpPr txBox="true"/>
            <p:nvPr/>
          </p:nvSpPr>
          <p:spPr>
            <a:xfrm>
              <a:off x="0" y="-28575"/>
              <a:ext cx="9387483" cy="1566717"/>
            </a:xfrm>
            <a:prstGeom prst="rect">
              <a:avLst/>
            </a:prstGeom>
          </p:spPr>
          <p:txBody>
            <a:bodyPr anchor="t" rtlCol="false" tIns="0" lIns="0" bIns="0" rIns="0"/>
            <a:lstStyle/>
            <a:p>
              <a:pPr algn="l">
                <a:lnSpc>
                  <a:spcPts val="6875"/>
                </a:lnSpc>
              </a:pPr>
              <a:r>
                <a:rPr lang="en-US" sz="5500" b="true">
                  <a:solidFill>
                    <a:srgbClr val="00002E"/>
                  </a:solidFill>
                  <a:latin typeface="Nunito Bold"/>
                  <a:ea typeface="Nunito Bold"/>
                  <a:cs typeface="Nunito Bold"/>
                  <a:sym typeface="Nunito Bold"/>
                </a:rPr>
                <a:t>Abstract</a:t>
              </a:r>
            </a:p>
          </p:txBody>
        </p:sp>
      </p:grpSp>
      <p:grpSp>
        <p:nvGrpSpPr>
          <p:cNvPr name="Group 9" id="9"/>
          <p:cNvGrpSpPr/>
          <p:nvPr/>
        </p:nvGrpSpPr>
        <p:grpSpPr>
          <a:xfrm rot="0">
            <a:off x="1047155" y="2644379"/>
            <a:ext cx="16193690" cy="5463182"/>
            <a:chOff x="0" y="0"/>
            <a:chExt cx="21591587" cy="7284243"/>
          </a:xfrm>
        </p:grpSpPr>
        <p:sp>
          <p:nvSpPr>
            <p:cNvPr name="Freeform 10" id="10"/>
            <p:cNvSpPr/>
            <p:nvPr/>
          </p:nvSpPr>
          <p:spPr>
            <a:xfrm flipH="false" flipV="false" rot="0">
              <a:off x="0" y="0"/>
              <a:ext cx="21591588" cy="7284243"/>
            </a:xfrm>
            <a:custGeom>
              <a:avLst/>
              <a:gdLst/>
              <a:ahLst/>
              <a:cxnLst/>
              <a:rect r="r" b="b" t="t" l="l"/>
              <a:pathLst>
                <a:path h="7284243" w="21591588">
                  <a:moveTo>
                    <a:pt x="0" y="0"/>
                  </a:moveTo>
                  <a:lnTo>
                    <a:pt x="21591588" y="0"/>
                  </a:lnTo>
                  <a:lnTo>
                    <a:pt x="21591588" y="7284243"/>
                  </a:lnTo>
                  <a:lnTo>
                    <a:pt x="0" y="7284243"/>
                  </a:lnTo>
                  <a:close/>
                </a:path>
              </a:pathLst>
            </a:custGeom>
            <a:solidFill>
              <a:srgbClr val="000000">
                <a:alpha val="0"/>
              </a:srgbClr>
            </a:solidFill>
          </p:spPr>
        </p:sp>
        <p:sp>
          <p:nvSpPr>
            <p:cNvPr name="TextBox 11" id="11"/>
            <p:cNvSpPr txBox="true"/>
            <p:nvPr/>
          </p:nvSpPr>
          <p:spPr>
            <a:xfrm>
              <a:off x="0" y="-104775"/>
              <a:ext cx="21591587" cy="7389018"/>
            </a:xfrm>
            <a:prstGeom prst="rect">
              <a:avLst/>
            </a:prstGeom>
          </p:spPr>
          <p:txBody>
            <a:bodyPr anchor="t" rtlCol="false" tIns="0" lIns="0" bIns="0" rIns="0"/>
            <a:lstStyle/>
            <a:p>
              <a:pPr algn="l">
                <a:lnSpc>
                  <a:spcPts val="4787"/>
                </a:lnSpc>
              </a:pPr>
              <a:r>
                <a:rPr lang="en-US" sz="3000">
                  <a:solidFill>
                    <a:srgbClr val="00002E"/>
                  </a:solidFill>
                  <a:latin typeface="PT Sans"/>
                  <a:ea typeface="PT Sans"/>
                  <a:cs typeface="PT Sans"/>
                  <a:sym typeface="PT Sans"/>
                </a:rPr>
                <a:t>The Greenhouse Monitoring and Controlling System using Arduino is an innovative solution designed to automate the management of environmental conditions within a greenhouse. The system utilizes sensors to monitor critical parameters such as temperature, humidity, soil moisture, and light intensity. An Arduino microcontroller processes the sensor data and controls actuators like fans, heaters, water pumps, and lights to maintain optimal growing conditions for plants. This project aims to reduce manual intervention, improve plant health, and increase agricultural productivity. The system is cost-effective, scalable, and can be adapted for various types of greenhouses. By leveraging Arduino's flexibility and the integration of sensors and actuators, this project provides a practical and efficient approach to modern greenhouse management.</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3F3FF">
                <a:alpha val="31373"/>
              </a:srgbClr>
            </a:solidFill>
          </p:spPr>
        </p:sp>
      </p:grpSp>
      <p:grpSp>
        <p:nvGrpSpPr>
          <p:cNvPr name="Group 6" id="6"/>
          <p:cNvGrpSpPr/>
          <p:nvPr/>
        </p:nvGrpSpPr>
        <p:grpSpPr>
          <a:xfrm rot="0">
            <a:off x="1028700" y="1007269"/>
            <a:ext cx="6807399" cy="1157013"/>
            <a:chOff x="0" y="0"/>
            <a:chExt cx="9076532" cy="1542684"/>
          </a:xfrm>
        </p:grpSpPr>
        <p:sp>
          <p:nvSpPr>
            <p:cNvPr name="Freeform 7" id="7"/>
            <p:cNvSpPr/>
            <p:nvPr/>
          </p:nvSpPr>
          <p:spPr>
            <a:xfrm flipH="false" flipV="false" rot="0">
              <a:off x="0" y="0"/>
              <a:ext cx="9076532" cy="1542684"/>
            </a:xfrm>
            <a:custGeom>
              <a:avLst/>
              <a:gdLst/>
              <a:ahLst/>
              <a:cxnLst/>
              <a:rect r="r" b="b" t="t" l="l"/>
              <a:pathLst>
                <a:path h="1542684" w="9076532">
                  <a:moveTo>
                    <a:pt x="0" y="0"/>
                  </a:moveTo>
                  <a:lnTo>
                    <a:pt x="9076532" y="0"/>
                  </a:lnTo>
                  <a:lnTo>
                    <a:pt x="9076532" y="1542684"/>
                  </a:lnTo>
                  <a:lnTo>
                    <a:pt x="0" y="1542684"/>
                  </a:lnTo>
                  <a:close/>
                </a:path>
              </a:pathLst>
            </a:custGeom>
            <a:solidFill>
              <a:srgbClr val="000000">
                <a:alpha val="0"/>
              </a:srgbClr>
            </a:solidFill>
          </p:spPr>
        </p:sp>
        <p:sp>
          <p:nvSpPr>
            <p:cNvPr name="TextBox 8" id="8"/>
            <p:cNvSpPr txBox="true"/>
            <p:nvPr/>
          </p:nvSpPr>
          <p:spPr>
            <a:xfrm>
              <a:off x="0" y="-38100"/>
              <a:ext cx="9076532" cy="1580784"/>
            </a:xfrm>
            <a:prstGeom prst="rect">
              <a:avLst/>
            </a:prstGeom>
          </p:spPr>
          <p:txBody>
            <a:bodyPr anchor="t" rtlCol="false" tIns="0" lIns="0" bIns="0" rIns="0"/>
            <a:lstStyle/>
            <a:p>
              <a:pPr algn="l">
                <a:lnSpc>
                  <a:spcPts val="6923"/>
                </a:lnSpc>
              </a:pPr>
              <a:r>
                <a:rPr lang="en-US" sz="5498" b="true">
                  <a:solidFill>
                    <a:srgbClr val="00002E"/>
                  </a:solidFill>
                  <a:latin typeface="Nunito Bold"/>
                  <a:ea typeface="Nunito Bold"/>
                  <a:cs typeface="Nunito Bold"/>
                  <a:sym typeface="Nunito Bold"/>
                </a:rPr>
                <a:t>Introduction </a:t>
              </a:r>
            </a:p>
          </p:txBody>
        </p:sp>
      </p:grpSp>
      <p:grpSp>
        <p:nvGrpSpPr>
          <p:cNvPr name="Group 9" id="9"/>
          <p:cNvGrpSpPr/>
          <p:nvPr/>
        </p:nvGrpSpPr>
        <p:grpSpPr>
          <a:xfrm rot="0">
            <a:off x="1028700" y="2471589"/>
            <a:ext cx="16263045" cy="3638780"/>
            <a:chOff x="0" y="0"/>
            <a:chExt cx="21684060" cy="4851707"/>
          </a:xfrm>
        </p:grpSpPr>
        <p:sp>
          <p:nvSpPr>
            <p:cNvPr name="Freeform 10" id="10"/>
            <p:cNvSpPr/>
            <p:nvPr/>
          </p:nvSpPr>
          <p:spPr>
            <a:xfrm flipH="false" flipV="false" rot="0">
              <a:off x="0" y="0"/>
              <a:ext cx="21684059" cy="4851707"/>
            </a:xfrm>
            <a:custGeom>
              <a:avLst/>
              <a:gdLst/>
              <a:ahLst/>
              <a:cxnLst/>
              <a:rect r="r" b="b" t="t" l="l"/>
              <a:pathLst>
                <a:path h="4851707" w="21684059">
                  <a:moveTo>
                    <a:pt x="0" y="0"/>
                  </a:moveTo>
                  <a:lnTo>
                    <a:pt x="21684059" y="0"/>
                  </a:lnTo>
                  <a:lnTo>
                    <a:pt x="21684059" y="4851707"/>
                  </a:lnTo>
                  <a:lnTo>
                    <a:pt x="0" y="4851707"/>
                  </a:lnTo>
                  <a:close/>
                </a:path>
              </a:pathLst>
            </a:custGeom>
            <a:solidFill>
              <a:srgbClr val="000000">
                <a:alpha val="0"/>
              </a:srgbClr>
            </a:solidFill>
          </p:spPr>
        </p:sp>
        <p:sp>
          <p:nvSpPr>
            <p:cNvPr name="TextBox 11" id="11"/>
            <p:cNvSpPr txBox="true"/>
            <p:nvPr/>
          </p:nvSpPr>
          <p:spPr>
            <a:xfrm>
              <a:off x="0" y="-104775"/>
              <a:ext cx="21684060" cy="4956482"/>
            </a:xfrm>
            <a:prstGeom prst="rect">
              <a:avLst/>
            </a:prstGeom>
          </p:spPr>
          <p:txBody>
            <a:bodyPr anchor="t" rtlCol="false" tIns="0" lIns="0" bIns="0" rIns="0"/>
            <a:lstStyle/>
            <a:p>
              <a:pPr algn="l">
                <a:lnSpc>
                  <a:spcPts val="4798"/>
                </a:lnSpc>
              </a:pPr>
              <a:r>
                <a:rPr lang="en-US" sz="3000">
                  <a:solidFill>
                    <a:srgbClr val="00002E"/>
                  </a:solidFill>
                  <a:latin typeface="PT Sans"/>
                  <a:ea typeface="PT Sans"/>
                  <a:cs typeface="PT Sans"/>
                  <a:sym typeface="PT Sans"/>
                </a:rPr>
                <a:t>Greenhouses play a vital role in modern agriculture by providing controlled environments for plant growth. They protect crops from adverse weather conditions, pests, and diseases, while also enabling year-round cultivation. However, maintaining optimal conditions within a greenhouse requires constant monitoring and adjustment of environmental parameters such as temperature, humidity, soil moisture, and light intensity. Traditional methods of greenhouse management often involve manual intervention, which can be inefficient and inconsistent </a:t>
              </a:r>
            </a:p>
          </p:txBody>
        </p:sp>
      </p:grpSp>
      <p:grpSp>
        <p:nvGrpSpPr>
          <p:cNvPr name="Group 12" id="12"/>
          <p:cNvGrpSpPr/>
          <p:nvPr/>
        </p:nvGrpSpPr>
        <p:grpSpPr>
          <a:xfrm rot="0">
            <a:off x="1028700" y="6295146"/>
            <a:ext cx="16263045" cy="3638780"/>
            <a:chOff x="0" y="0"/>
            <a:chExt cx="21684060" cy="4851707"/>
          </a:xfrm>
        </p:grpSpPr>
        <p:sp>
          <p:nvSpPr>
            <p:cNvPr name="Freeform 13" id="13"/>
            <p:cNvSpPr/>
            <p:nvPr/>
          </p:nvSpPr>
          <p:spPr>
            <a:xfrm flipH="false" flipV="false" rot="0">
              <a:off x="0" y="0"/>
              <a:ext cx="21684059" cy="4851707"/>
            </a:xfrm>
            <a:custGeom>
              <a:avLst/>
              <a:gdLst/>
              <a:ahLst/>
              <a:cxnLst/>
              <a:rect r="r" b="b" t="t" l="l"/>
              <a:pathLst>
                <a:path h="4851707" w="21684059">
                  <a:moveTo>
                    <a:pt x="0" y="0"/>
                  </a:moveTo>
                  <a:lnTo>
                    <a:pt x="21684059" y="0"/>
                  </a:lnTo>
                  <a:lnTo>
                    <a:pt x="21684059" y="4851707"/>
                  </a:lnTo>
                  <a:lnTo>
                    <a:pt x="0" y="4851707"/>
                  </a:lnTo>
                  <a:close/>
                </a:path>
              </a:pathLst>
            </a:custGeom>
            <a:solidFill>
              <a:srgbClr val="000000">
                <a:alpha val="0"/>
              </a:srgbClr>
            </a:solidFill>
          </p:spPr>
        </p:sp>
        <p:sp>
          <p:nvSpPr>
            <p:cNvPr name="TextBox 14" id="14"/>
            <p:cNvSpPr txBox="true"/>
            <p:nvPr/>
          </p:nvSpPr>
          <p:spPr>
            <a:xfrm>
              <a:off x="0" y="-104775"/>
              <a:ext cx="21684060" cy="4956482"/>
            </a:xfrm>
            <a:prstGeom prst="rect">
              <a:avLst/>
            </a:prstGeom>
          </p:spPr>
          <p:txBody>
            <a:bodyPr anchor="t" rtlCol="false" tIns="0" lIns="0" bIns="0" rIns="0"/>
            <a:lstStyle/>
            <a:p>
              <a:pPr algn="l">
                <a:lnSpc>
                  <a:spcPts val="4798"/>
                </a:lnSpc>
              </a:pPr>
              <a:r>
                <a:rPr lang="en-US" sz="3000">
                  <a:solidFill>
                    <a:srgbClr val="00002E"/>
                  </a:solidFill>
                  <a:latin typeface="PT Sans"/>
                  <a:ea typeface="PT Sans"/>
                  <a:cs typeface="PT Sans"/>
                  <a:sym typeface="PT Sans"/>
                </a:rPr>
                <a:t>The advent of microcontroller-based systems has revolutionized the way greenhouses are managed. Arduino, an open-source electronics platform, has emerged as a popular choice for developing automated systems due to its simplicity, affordability, and extensive community support. By integrating sensors and actuators with an Arduino microcontroller, it is possible to create a system that can autonomously monitor and control greenhouse conditions </a:t>
              </a:r>
            </a:p>
            <a:p>
              <a:pPr algn="l">
                <a:lnSpc>
                  <a:spcPts val="4798"/>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3F3FF">
                <a:alpha val="31373"/>
              </a:srgbClr>
            </a:solidFill>
          </p:spPr>
        </p:sp>
      </p:grpSp>
      <p:grpSp>
        <p:nvGrpSpPr>
          <p:cNvPr name="Group 6" id="6"/>
          <p:cNvGrpSpPr/>
          <p:nvPr/>
        </p:nvGrpSpPr>
        <p:grpSpPr>
          <a:xfrm rot="0">
            <a:off x="1047155" y="1007269"/>
            <a:ext cx="7040612" cy="901452"/>
            <a:chOff x="0" y="0"/>
            <a:chExt cx="9387483" cy="1201936"/>
          </a:xfrm>
        </p:grpSpPr>
        <p:sp>
          <p:nvSpPr>
            <p:cNvPr name="Freeform 7" id="7"/>
            <p:cNvSpPr/>
            <p:nvPr/>
          </p:nvSpPr>
          <p:spPr>
            <a:xfrm flipH="false" flipV="false" rot="0">
              <a:off x="0" y="0"/>
              <a:ext cx="9387483" cy="1201936"/>
            </a:xfrm>
            <a:custGeom>
              <a:avLst/>
              <a:gdLst/>
              <a:ahLst/>
              <a:cxnLst/>
              <a:rect r="r" b="b" t="t" l="l"/>
              <a:pathLst>
                <a:path h="1201936" w="9387483">
                  <a:moveTo>
                    <a:pt x="0" y="0"/>
                  </a:moveTo>
                  <a:lnTo>
                    <a:pt x="9387483" y="0"/>
                  </a:lnTo>
                  <a:lnTo>
                    <a:pt x="9387483" y="1201936"/>
                  </a:lnTo>
                  <a:lnTo>
                    <a:pt x="0" y="1201936"/>
                  </a:lnTo>
                  <a:close/>
                </a:path>
              </a:pathLst>
            </a:custGeom>
            <a:solidFill>
              <a:srgbClr val="000000">
                <a:alpha val="0"/>
              </a:srgbClr>
            </a:solidFill>
          </p:spPr>
        </p:sp>
        <p:sp>
          <p:nvSpPr>
            <p:cNvPr name="TextBox 8" id="8"/>
            <p:cNvSpPr txBox="true"/>
            <p:nvPr/>
          </p:nvSpPr>
          <p:spPr>
            <a:xfrm>
              <a:off x="0" y="-28575"/>
              <a:ext cx="9387483" cy="1230511"/>
            </a:xfrm>
            <a:prstGeom prst="rect">
              <a:avLst/>
            </a:prstGeom>
          </p:spPr>
          <p:txBody>
            <a:bodyPr anchor="t" rtlCol="false" tIns="0" lIns="0" bIns="0" rIns="0"/>
            <a:lstStyle/>
            <a:p>
              <a:pPr algn="l">
                <a:lnSpc>
                  <a:spcPts val="6875"/>
                </a:lnSpc>
              </a:pPr>
              <a:r>
                <a:rPr lang="en-US" sz="5500" b="true">
                  <a:solidFill>
                    <a:srgbClr val="00002E"/>
                  </a:solidFill>
                  <a:latin typeface="Nunito Bold"/>
                  <a:ea typeface="Nunito Bold"/>
                  <a:cs typeface="Nunito Bold"/>
                  <a:sym typeface="Nunito Bold"/>
                </a:rPr>
                <a:t>Project Objectives</a:t>
              </a:r>
            </a:p>
          </p:txBody>
        </p:sp>
      </p:grpSp>
      <p:grpSp>
        <p:nvGrpSpPr>
          <p:cNvPr name="Group 9" id="9"/>
          <p:cNvGrpSpPr/>
          <p:nvPr/>
        </p:nvGrpSpPr>
        <p:grpSpPr>
          <a:xfrm rot="0">
            <a:off x="1047155" y="2772073"/>
            <a:ext cx="16193690" cy="1275160"/>
            <a:chOff x="0" y="0"/>
            <a:chExt cx="21591587" cy="1700214"/>
          </a:xfrm>
        </p:grpSpPr>
        <p:sp>
          <p:nvSpPr>
            <p:cNvPr name="Freeform 10" id="10"/>
            <p:cNvSpPr/>
            <p:nvPr/>
          </p:nvSpPr>
          <p:spPr>
            <a:xfrm flipH="false" flipV="false" rot="0">
              <a:off x="0" y="0"/>
              <a:ext cx="21591588" cy="1700214"/>
            </a:xfrm>
            <a:custGeom>
              <a:avLst/>
              <a:gdLst/>
              <a:ahLst/>
              <a:cxnLst/>
              <a:rect r="r" b="b" t="t" l="l"/>
              <a:pathLst>
                <a:path h="1700214" w="21591588">
                  <a:moveTo>
                    <a:pt x="0" y="0"/>
                  </a:moveTo>
                  <a:lnTo>
                    <a:pt x="21591588" y="0"/>
                  </a:lnTo>
                  <a:lnTo>
                    <a:pt x="21591588" y="1700214"/>
                  </a:lnTo>
                  <a:lnTo>
                    <a:pt x="0" y="1700214"/>
                  </a:lnTo>
                  <a:close/>
                </a:path>
              </a:pathLst>
            </a:custGeom>
            <a:solidFill>
              <a:srgbClr val="000000">
                <a:alpha val="0"/>
              </a:srgbClr>
            </a:solidFill>
          </p:spPr>
        </p:sp>
        <p:sp>
          <p:nvSpPr>
            <p:cNvPr name="TextBox 11" id="11"/>
            <p:cNvSpPr txBox="true"/>
            <p:nvPr/>
          </p:nvSpPr>
          <p:spPr>
            <a:xfrm>
              <a:off x="0" y="-104775"/>
              <a:ext cx="21591587" cy="1804989"/>
            </a:xfrm>
            <a:prstGeom prst="rect">
              <a:avLst/>
            </a:prstGeom>
          </p:spPr>
          <p:txBody>
            <a:bodyPr anchor="t" rtlCol="false" tIns="0" lIns="0" bIns="0" rIns="0"/>
            <a:lstStyle/>
            <a:p>
              <a:pPr algn="l">
                <a:lnSpc>
                  <a:spcPts val="4787"/>
                </a:lnSpc>
              </a:pPr>
              <a:r>
                <a:rPr lang="en-US" sz="3000">
                  <a:solidFill>
                    <a:srgbClr val="00002E"/>
                  </a:solidFill>
                  <a:latin typeface="PT Sans"/>
                  <a:ea typeface="PT Sans"/>
                  <a:cs typeface="PT Sans"/>
                  <a:sym typeface="PT Sans"/>
                </a:rPr>
                <a:t>The system provides real-time feedback on the state of the greenhouse environment. This helps small-scale farmers without the cost of mobile application development.</a:t>
              </a:r>
            </a:p>
          </p:txBody>
        </p:sp>
      </p:grpSp>
      <p:sp>
        <p:nvSpPr>
          <p:cNvPr name="Freeform 12" id="12"/>
          <p:cNvSpPr/>
          <p:nvPr/>
        </p:nvSpPr>
        <p:spPr>
          <a:xfrm flipH="false" flipV="false" rot="0">
            <a:off x="1032867" y="4705945"/>
            <a:ext cx="701707" cy="701802"/>
          </a:xfrm>
          <a:custGeom>
            <a:avLst/>
            <a:gdLst/>
            <a:ahLst/>
            <a:cxnLst/>
            <a:rect r="r" b="b" t="t" l="l"/>
            <a:pathLst>
              <a:path h="701802" w="701707">
                <a:moveTo>
                  <a:pt x="0" y="0"/>
                </a:moveTo>
                <a:lnTo>
                  <a:pt x="701707" y="0"/>
                </a:lnTo>
                <a:lnTo>
                  <a:pt x="701707" y="701802"/>
                </a:lnTo>
                <a:lnTo>
                  <a:pt x="0" y="7018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1172468" y="4835574"/>
            <a:ext cx="422374" cy="485180"/>
            <a:chOff x="0" y="0"/>
            <a:chExt cx="563165" cy="646906"/>
          </a:xfrm>
        </p:grpSpPr>
        <p:sp>
          <p:nvSpPr>
            <p:cNvPr name="Freeform 14" id="14"/>
            <p:cNvSpPr/>
            <p:nvPr/>
          </p:nvSpPr>
          <p:spPr>
            <a:xfrm flipH="false" flipV="false" rot="0">
              <a:off x="0" y="0"/>
              <a:ext cx="563165" cy="646906"/>
            </a:xfrm>
            <a:custGeom>
              <a:avLst/>
              <a:gdLst/>
              <a:ahLst/>
              <a:cxnLst/>
              <a:rect r="r" b="b" t="t" l="l"/>
              <a:pathLst>
                <a:path h="646906" w="563165">
                  <a:moveTo>
                    <a:pt x="0" y="0"/>
                  </a:moveTo>
                  <a:lnTo>
                    <a:pt x="563165" y="0"/>
                  </a:lnTo>
                  <a:lnTo>
                    <a:pt x="563165" y="646906"/>
                  </a:lnTo>
                  <a:lnTo>
                    <a:pt x="0" y="646906"/>
                  </a:lnTo>
                  <a:close/>
                </a:path>
              </a:pathLst>
            </a:custGeom>
            <a:solidFill>
              <a:srgbClr val="000000">
                <a:alpha val="0"/>
              </a:srgbClr>
            </a:solidFill>
          </p:spPr>
        </p:sp>
        <p:sp>
          <p:nvSpPr>
            <p:cNvPr name="TextBox 15" id="15"/>
            <p:cNvSpPr txBox="true"/>
            <p:nvPr/>
          </p:nvSpPr>
          <p:spPr>
            <a:xfrm>
              <a:off x="0" y="57150"/>
              <a:ext cx="563165" cy="589756"/>
            </a:xfrm>
            <a:prstGeom prst="rect">
              <a:avLst/>
            </a:prstGeom>
          </p:spPr>
          <p:txBody>
            <a:bodyPr anchor="t" rtlCol="false" tIns="0" lIns="0" bIns="0" rIns="0"/>
            <a:lstStyle/>
            <a:p>
              <a:pPr algn="ctr">
                <a:lnSpc>
                  <a:spcPts val="3312"/>
                </a:lnSpc>
              </a:pPr>
              <a:r>
                <a:rPr lang="en-US" sz="3311" b="true">
                  <a:solidFill>
                    <a:srgbClr val="00002E"/>
                  </a:solidFill>
                  <a:latin typeface="Nunito Bold"/>
                  <a:ea typeface="Nunito Bold"/>
                  <a:cs typeface="Nunito Bold"/>
                  <a:sym typeface="Nunito Bold"/>
                </a:rPr>
                <a:t>1</a:t>
              </a:r>
            </a:p>
          </p:txBody>
        </p:sp>
      </p:grpSp>
      <p:grpSp>
        <p:nvGrpSpPr>
          <p:cNvPr name="Group 16" id="16"/>
          <p:cNvGrpSpPr/>
          <p:nvPr/>
        </p:nvGrpSpPr>
        <p:grpSpPr>
          <a:xfrm rot="0">
            <a:off x="2019449" y="4713089"/>
            <a:ext cx="3520231" cy="628174"/>
            <a:chOff x="0" y="0"/>
            <a:chExt cx="4693641" cy="837565"/>
          </a:xfrm>
        </p:grpSpPr>
        <p:sp>
          <p:nvSpPr>
            <p:cNvPr name="Freeform 17" id="17"/>
            <p:cNvSpPr/>
            <p:nvPr/>
          </p:nvSpPr>
          <p:spPr>
            <a:xfrm flipH="false" flipV="false" rot="0">
              <a:off x="0" y="0"/>
              <a:ext cx="4693641" cy="837565"/>
            </a:xfrm>
            <a:custGeom>
              <a:avLst/>
              <a:gdLst/>
              <a:ahLst/>
              <a:cxnLst/>
              <a:rect r="r" b="b" t="t" l="l"/>
              <a:pathLst>
                <a:path h="837565" w="4693641">
                  <a:moveTo>
                    <a:pt x="0" y="0"/>
                  </a:moveTo>
                  <a:lnTo>
                    <a:pt x="4693641" y="0"/>
                  </a:lnTo>
                  <a:lnTo>
                    <a:pt x="4693641" y="837565"/>
                  </a:lnTo>
                  <a:lnTo>
                    <a:pt x="0" y="837565"/>
                  </a:lnTo>
                  <a:close/>
                </a:path>
              </a:pathLst>
            </a:custGeom>
            <a:solidFill>
              <a:srgbClr val="000000">
                <a:alpha val="0"/>
              </a:srgbClr>
            </a:solidFill>
          </p:spPr>
        </p:sp>
        <p:sp>
          <p:nvSpPr>
            <p:cNvPr name="TextBox 18" id="18"/>
            <p:cNvSpPr txBox="true"/>
            <p:nvPr/>
          </p:nvSpPr>
          <p:spPr>
            <a:xfrm>
              <a:off x="0" y="-9525"/>
              <a:ext cx="4693641" cy="847090"/>
            </a:xfrm>
            <a:prstGeom prst="rect">
              <a:avLst/>
            </a:prstGeom>
          </p:spPr>
          <p:txBody>
            <a:bodyPr anchor="t" rtlCol="false" tIns="0" lIns="0" bIns="0" rIns="0"/>
            <a:lstStyle/>
            <a:p>
              <a:pPr algn="l">
                <a:lnSpc>
                  <a:spcPts val="3750"/>
                </a:lnSpc>
              </a:pPr>
              <a:r>
                <a:rPr lang="en-US" sz="3000" b="true">
                  <a:solidFill>
                    <a:srgbClr val="00002E"/>
                  </a:solidFill>
                  <a:latin typeface="Nunito Bold"/>
                  <a:ea typeface="Nunito Bold"/>
                  <a:cs typeface="Nunito Bold"/>
                  <a:sym typeface="Nunito Bold"/>
                </a:rPr>
                <a:t>Optimal Conditions</a:t>
              </a:r>
            </a:p>
          </p:txBody>
        </p:sp>
      </p:grpSp>
      <p:grpSp>
        <p:nvGrpSpPr>
          <p:cNvPr name="Group 19" id="19"/>
          <p:cNvGrpSpPr/>
          <p:nvPr/>
        </p:nvGrpSpPr>
        <p:grpSpPr>
          <a:xfrm rot="0">
            <a:off x="2024062" y="5612769"/>
            <a:ext cx="4226124" cy="1873449"/>
            <a:chOff x="0" y="0"/>
            <a:chExt cx="5634832" cy="2497932"/>
          </a:xfrm>
        </p:grpSpPr>
        <p:sp>
          <p:nvSpPr>
            <p:cNvPr name="Freeform 20" id="20"/>
            <p:cNvSpPr/>
            <p:nvPr/>
          </p:nvSpPr>
          <p:spPr>
            <a:xfrm flipH="false" flipV="false" rot="0">
              <a:off x="0" y="0"/>
              <a:ext cx="5634832" cy="2497932"/>
            </a:xfrm>
            <a:custGeom>
              <a:avLst/>
              <a:gdLst/>
              <a:ahLst/>
              <a:cxnLst/>
              <a:rect r="r" b="b" t="t" l="l"/>
              <a:pathLst>
                <a:path h="2497932" w="5634832">
                  <a:moveTo>
                    <a:pt x="0" y="0"/>
                  </a:moveTo>
                  <a:lnTo>
                    <a:pt x="5634832" y="0"/>
                  </a:lnTo>
                  <a:lnTo>
                    <a:pt x="5634832" y="2497932"/>
                  </a:lnTo>
                  <a:lnTo>
                    <a:pt x="0" y="2497932"/>
                  </a:lnTo>
                  <a:close/>
                </a:path>
              </a:pathLst>
            </a:custGeom>
            <a:solidFill>
              <a:srgbClr val="000000">
                <a:alpha val="0"/>
              </a:srgbClr>
            </a:solidFill>
          </p:spPr>
        </p:sp>
        <p:sp>
          <p:nvSpPr>
            <p:cNvPr name="TextBox 21" id="21"/>
            <p:cNvSpPr txBox="true"/>
            <p:nvPr/>
          </p:nvSpPr>
          <p:spPr>
            <a:xfrm>
              <a:off x="0" y="-104775"/>
              <a:ext cx="5634832" cy="2602707"/>
            </a:xfrm>
            <a:prstGeom prst="rect">
              <a:avLst/>
            </a:prstGeom>
          </p:spPr>
          <p:txBody>
            <a:bodyPr anchor="t" rtlCol="false" tIns="0" lIns="0" bIns="0" rIns="0"/>
            <a:lstStyle/>
            <a:p>
              <a:pPr algn="l">
                <a:lnSpc>
                  <a:spcPts val="4787"/>
                </a:lnSpc>
              </a:pPr>
              <a:r>
                <a:rPr lang="en-US" sz="3000">
                  <a:solidFill>
                    <a:srgbClr val="00002E"/>
                  </a:solidFill>
                  <a:latin typeface="PT Sans"/>
                  <a:ea typeface="PT Sans"/>
                  <a:cs typeface="PT Sans"/>
                  <a:sym typeface="PT Sans"/>
                </a:rPr>
                <a:t>Maintain optimal environmental conditions for plant growth.</a:t>
              </a:r>
            </a:p>
          </p:txBody>
        </p:sp>
      </p:grpSp>
      <p:sp>
        <p:nvSpPr>
          <p:cNvPr name="Freeform 22" id="22"/>
          <p:cNvSpPr/>
          <p:nvPr/>
        </p:nvSpPr>
        <p:spPr>
          <a:xfrm flipH="false" flipV="false" rot="0">
            <a:off x="6530429" y="4705945"/>
            <a:ext cx="701707" cy="701802"/>
          </a:xfrm>
          <a:custGeom>
            <a:avLst/>
            <a:gdLst/>
            <a:ahLst/>
            <a:cxnLst/>
            <a:rect r="r" b="b" t="t" l="l"/>
            <a:pathLst>
              <a:path h="701802" w="701707">
                <a:moveTo>
                  <a:pt x="0" y="0"/>
                </a:moveTo>
                <a:lnTo>
                  <a:pt x="701707" y="0"/>
                </a:lnTo>
                <a:lnTo>
                  <a:pt x="701707" y="701802"/>
                </a:lnTo>
                <a:lnTo>
                  <a:pt x="0" y="7018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3" id="23"/>
          <p:cNvGrpSpPr/>
          <p:nvPr/>
        </p:nvGrpSpPr>
        <p:grpSpPr>
          <a:xfrm rot="0">
            <a:off x="6670030" y="4835574"/>
            <a:ext cx="422374" cy="485180"/>
            <a:chOff x="0" y="0"/>
            <a:chExt cx="563165" cy="646906"/>
          </a:xfrm>
        </p:grpSpPr>
        <p:sp>
          <p:nvSpPr>
            <p:cNvPr name="Freeform 24" id="24"/>
            <p:cNvSpPr/>
            <p:nvPr/>
          </p:nvSpPr>
          <p:spPr>
            <a:xfrm flipH="false" flipV="false" rot="0">
              <a:off x="0" y="0"/>
              <a:ext cx="563165" cy="646906"/>
            </a:xfrm>
            <a:custGeom>
              <a:avLst/>
              <a:gdLst/>
              <a:ahLst/>
              <a:cxnLst/>
              <a:rect r="r" b="b" t="t" l="l"/>
              <a:pathLst>
                <a:path h="646906" w="563165">
                  <a:moveTo>
                    <a:pt x="0" y="0"/>
                  </a:moveTo>
                  <a:lnTo>
                    <a:pt x="563165" y="0"/>
                  </a:lnTo>
                  <a:lnTo>
                    <a:pt x="563165" y="646906"/>
                  </a:lnTo>
                  <a:lnTo>
                    <a:pt x="0" y="646906"/>
                  </a:lnTo>
                  <a:close/>
                </a:path>
              </a:pathLst>
            </a:custGeom>
            <a:solidFill>
              <a:srgbClr val="000000">
                <a:alpha val="0"/>
              </a:srgbClr>
            </a:solidFill>
          </p:spPr>
        </p:sp>
        <p:sp>
          <p:nvSpPr>
            <p:cNvPr name="TextBox 25" id="25"/>
            <p:cNvSpPr txBox="true"/>
            <p:nvPr/>
          </p:nvSpPr>
          <p:spPr>
            <a:xfrm>
              <a:off x="0" y="57150"/>
              <a:ext cx="563165" cy="589756"/>
            </a:xfrm>
            <a:prstGeom prst="rect">
              <a:avLst/>
            </a:prstGeom>
          </p:spPr>
          <p:txBody>
            <a:bodyPr anchor="t" rtlCol="false" tIns="0" lIns="0" bIns="0" rIns="0"/>
            <a:lstStyle/>
            <a:p>
              <a:pPr algn="ctr">
                <a:lnSpc>
                  <a:spcPts val="3312"/>
                </a:lnSpc>
              </a:pPr>
              <a:r>
                <a:rPr lang="en-US" sz="3311" b="true">
                  <a:solidFill>
                    <a:srgbClr val="00002E"/>
                  </a:solidFill>
                  <a:latin typeface="Nunito Bold"/>
                  <a:ea typeface="Nunito Bold"/>
                  <a:cs typeface="Nunito Bold"/>
                  <a:sym typeface="Nunito Bold"/>
                </a:rPr>
                <a:t>2</a:t>
              </a:r>
            </a:p>
          </p:txBody>
        </p:sp>
      </p:grpSp>
      <p:grpSp>
        <p:nvGrpSpPr>
          <p:cNvPr name="Group 26" id="26"/>
          <p:cNvGrpSpPr/>
          <p:nvPr/>
        </p:nvGrpSpPr>
        <p:grpSpPr>
          <a:xfrm rot="0">
            <a:off x="7517011" y="4711659"/>
            <a:ext cx="4225230" cy="1325607"/>
            <a:chOff x="0" y="0"/>
            <a:chExt cx="5633640" cy="1767477"/>
          </a:xfrm>
        </p:grpSpPr>
        <p:sp>
          <p:nvSpPr>
            <p:cNvPr name="Freeform 27" id="27"/>
            <p:cNvSpPr/>
            <p:nvPr/>
          </p:nvSpPr>
          <p:spPr>
            <a:xfrm flipH="false" flipV="false" rot="0">
              <a:off x="0" y="0"/>
              <a:ext cx="5633640" cy="1767477"/>
            </a:xfrm>
            <a:custGeom>
              <a:avLst/>
              <a:gdLst/>
              <a:ahLst/>
              <a:cxnLst/>
              <a:rect r="r" b="b" t="t" l="l"/>
              <a:pathLst>
                <a:path h="1767477" w="5633640">
                  <a:moveTo>
                    <a:pt x="0" y="0"/>
                  </a:moveTo>
                  <a:lnTo>
                    <a:pt x="5633640" y="0"/>
                  </a:lnTo>
                  <a:lnTo>
                    <a:pt x="5633640" y="1767477"/>
                  </a:lnTo>
                  <a:lnTo>
                    <a:pt x="0" y="1767477"/>
                  </a:lnTo>
                  <a:close/>
                </a:path>
              </a:pathLst>
            </a:custGeom>
            <a:solidFill>
              <a:srgbClr val="000000">
                <a:alpha val="0"/>
              </a:srgbClr>
            </a:solidFill>
          </p:spPr>
        </p:sp>
        <p:sp>
          <p:nvSpPr>
            <p:cNvPr name="TextBox 28" id="28"/>
            <p:cNvSpPr txBox="true"/>
            <p:nvPr/>
          </p:nvSpPr>
          <p:spPr>
            <a:xfrm>
              <a:off x="0" y="-9525"/>
              <a:ext cx="5633640" cy="1777002"/>
            </a:xfrm>
            <a:prstGeom prst="rect">
              <a:avLst/>
            </a:prstGeom>
          </p:spPr>
          <p:txBody>
            <a:bodyPr anchor="t" rtlCol="false" tIns="0" lIns="0" bIns="0" rIns="0"/>
            <a:lstStyle/>
            <a:p>
              <a:pPr algn="l">
                <a:lnSpc>
                  <a:spcPts val="3750"/>
                </a:lnSpc>
              </a:pPr>
              <a:r>
                <a:rPr lang="en-US" sz="3000" b="true">
                  <a:solidFill>
                    <a:srgbClr val="00002E"/>
                  </a:solidFill>
                  <a:latin typeface="Nunito Bold"/>
                  <a:ea typeface="Nunito Bold"/>
                  <a:cs typeface="Nunito Bold"/>
                  <a:sym typeface="Nunito Bold"/>
                </a:rPr>
                <a:t>Real-time Monitoring</a:t>
              </a:r>
            </a:p>
          </p:txBody>
        </p:sp>
      </p:grpSp>
      <p:grpSp>
        <p:nvGrpSpPr>
          <p:cNvPr name="Group 29" id="29"/>
          <p:cNvGrpSpPr/>
          <p:nvPr/>
        </p:nvGrpSpPr>
        <p:grpSpPr>
          <a:xfrm rot="0">
            <a:off x="7519317" y="5612769"/>
            <a:ext cx="4226124" cy="1873449"/>
            <a:chOff x="0" y="0"/>
            <a:chExt cx="5634832" cy="2497932"/>
          </a:xfrm>
        </p:grpSpPr>
        <p:sp>
          <p:nvSpPr>
            <p:cNvPr name="Freeform 30" id="30"/>
            <p:cNvSpPr/>
            <p:nvPr/>
          </p:nvSpPr>
          <p:spPr>
            <a:xfrm flipH="false" flipV="false" rot="0">
              <a:off x="0" y="0"/>
              <a:ext cx="5634832" cy="2497932"/>
            </a:xfrm>
            <a:custGeom>
              <a:avLst/>
              <a:gdLst/>
              <a:ahLst/>
              <a:cxnLst/>
              <a:rect r="r" b="b" t="t" l="l"/>
              <a:pathLst>
                <a:path h="2497932" w="5634832">
                  <a:moveTo>
                    <a:pt x="0" y="0"/>
                  </a:moveTo>
                  <a:lnTo>
                    <a:pt x="5634832" y="0"/>
                  </a:lnTo>
                  <a:lnTo>
                    <a:pt x="5634832" y="2497932"/>
                  </a:lnTo>
                  <a:lnTo>
                    <a:pt x="0" y="2497932"/>
                  </a:lnTo>
                  <a:close/>
                </a:path>
              </a:pathLst>
            </a:custGeom>
            <a:solidFill>
              <a:srgbClr val="000000">
                <a:alpha val="0"/>
              </a:srgbClr>
            </a:solidFill>
          </p:spPr>
        </p:sp>
        <p:sp>
          <p:nvSpPr>
            <p:cNvPr name="TextBox 31" id="31"/>
            <p:cNvSpPr txBox="true"/>
            <p:nvPr/>
          </p:nvSpPr>
          <p:spPr>
            <a:xfrm>
              <a:off x="0" y="-104775"/>
              <a:ext cx="5634832" cy="2602707"/>
            </a:xfrm>
            <a:prstGeom prst="rect">
              <a:avLst/>
            </a:prstGeom>
          </p:spPr>
          <p:txBody>
            <a:bodyPr anchor="t" rtlCol="false" tIns="0" lIns="0" bIns="0" rIns="0"/>
            <a:lstStyle/>
            <a:p>
              <a:pPr algn="l">
                <a:lnSpc>
                  <a:spcPts val="4787"/>
                </a:lnSpc>
              </a:pPr>
              <a:r>
                <a:rPr lang="en-US" sz="3000">
                  <a:solidFill>
                    <a:srgbClr val="00002E"/>
                  </a:solidFill>
                  <a:latin typeface="PT Sans"/>
                  <a:ea typeface="PT Sans"/>
                  <a:cs typeface="PT Sans"/>
                  <a:sym typeface="PT Sans"/>
                </a:rPr>
                <a:t>Monitor temperature, humidity, and soil moisture in real-time.</a:t>
              </a:r>
            </a:p>
          </p:txBody>
        </p:sp>
      </p:grpSp>
      <p:sp>
        <p:nvSpPr>
          <p:cNvPr name="Freeform 32" id="32"/>
          <p:cNvSpPr/>
          <p:nvPr/>
        </p:nvSpPr>
        <p:spPr>
          <a:xfrm flipH="false" flipV="false" rot="0">
            <a:off x="12027991" y="4705945"/>
            <a:ext cx="701707" cy="701802"/>
          </a:xfrm>
          <a:custGeom>
            <a:avLst/>
            <a:gdLst/>
            <a:ahLst/>
            <a:cxnLst/>
            <a:rect r="r" b="b" t="t" l="l"/>
            <a:pathLst>
              <a:path h="701802" w="701707">
                <a:moveTo>
                  <a:pt x="0" y="0"/>
                </a:moveTo>
                <a:lnTo>
                  <a:pt x="701707" y="0"/>
                </a:lnTo>
                <a:lnTo>
                  <a:pt x="701707" y="701802"/>
                </a:lnTo>
                <a:lnTo>
                  <a:pt x="0" y="7018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33" id="33"/>
          <p:cNvGrpSpPr/>
          <p:nvPr/>
        </p:nvGrpSpPr>
        <p:grpSpPr>
          <a:xfrm rot="0">
            <a:off x="12167592" y="4835574"/>
            <a:ext cx="422374" cy="485180"/>
            <a:chOff x="0" y="0"/>
            <a:chExt cx="563165" cy="646906"/>
          </a:xfrm>
        </p:grpSpPr>
        <p:sp>
          <p:nvSpPr>
            <p:cNvPr name="Freeform 34" id="34"/>
            <p:cNvSpPr/>
            <p:nvPr/>
          </p:nvSpPr>
          <p:spPr>
            <a:xfrm flipH="false" flipV="false" rot="0">
              <a:off x="0" y="0"/>
              <a:ext cx="563165" cy="646906"/>
            </a:xfrm>
            <a:custGeom>
              <a:avLst/>
              <a:gdLst/>
              <a:ahLst/>
              <a:cxnLst/>
              <a:rect r="r" b="b" t="t" l="l"/>
              <a:pathLst>
                <a:path h="646906" w="563165">
                  <a:moveTo>
                    <a:pt x="0" y="0"/>
                  </a:moveTo>
                  <a:lnTo>
                    <a:pt x="563165" y="0"/>
                  </a:lnTo>
                  <a:lnTo>
                    <a:pt x="563165" y="646906"/>
                  </a:lnTo>
                  <a:lnTo>
                    <a:pt x="0" y="646906"/>
                  </a:lnTo>
                  <a:close/>
                </a:path>
              </a:pathLst>
            </a:custGeom>
            <a:solidFill>
              <a:srgbClr val="000000">
                <a:alpha val="0"/>
              </a:srgbClr>
            </a:solidFill>
          </p:spPr>
        </p:sp>
        <p:sp>
          <p:nvSpPr>
            <p:cNvPr name="TextBox 35" id="35"/>
            <p:cNvSpPr txBox="true"/>
            <p:nvPr/>
          </p:nvSpPr>
          <p:spPr>
            <a:xfrm>
              <a:off x="0" y="57150"/>
              <a:ext cx="563165" cy="589756"/>
            </a:xfrm>
            <a:prstGeom prst="rect">
              <a:avLst/>
            </a:prstGeom>
          </p:spPr>
          <p:txBody>
            <a:bodyPr anchor="t" rtlCol="false" tIns="0" lIns="0" bIns="0" rIns="0"/>
            <a:lstStyle/>
            <a:p>
              <a:pPr algn="ctr">
                <a:lnSpc>
                  <a:spcPts val="3312"/>
                </a:lnSpc>
              </a:pPr>
              <a:r>
                <a:rPr lang="en-US" sz="3311" b="true">
                  <a:solidFill>
                    <a:srgbClr val="00002E"/>
                  </a:solidFill>
                  <a:latin typeface="Nunito Bold"/>
                  <a:ea typeface="Nunito Bold"/>
                  <a:cs typeface="Nunito Bold"/>
                  <a:sym typeface="Nunito Bold"/>
                </a:rPr>
                <a:t>3</a:t>
              </a:r>
            </a:p>
          </p:txBody>
        </p:sp>
      </p:grpSp>
      <p:grpSp>
        <p:nvGrpSpPr>
          <p:cNvPr name="Group 36" id="36"/>
          <p:cNvGrpSpPr/>
          <p:nvPr/>
        </p:nvGrpSpPr>
        <p:grpSpPr>
          <a:xfrm rot="0">
            <a:off x="13014572" y="4712191"/>
            <a:ext cx="4244728" cy="1243311"/>
            <a:chOff x="0" y="0"/>
            <a:chExt cx="5659637" cy="1657748"/>
          </a:xfrm>
        </p:grpSpPr>
        <p:sp>
          <p:nvSpPr>
            <p:cNvPr name="Freeform 37" id="37"/>
            <p:cNvSpPr/>
            <p:nvPr/>
          </p:nvSpPr>
          <p:spPr>
            <a:xfrm flipH="false" flipV="false" rot="0">
              <a:off x="0" y="0"/>
              <a:ext cx="5659637" cy="1657748"/>
            </a:xfrm>
            <a:custGeom>
              <a:avLst/>
              <a:gdLst/>
              <a:ahLst/>
              <a:cxnLst/>
              <a:rect r="r" b="b" t="t" l="l"/>
              <a:pathLst>
                <a:path h="1657748" w="5659637">
                  <a:moveTo>
                    <a:pt x="0" y="0"/>
                  </a:moveTo>
                  <a:lnTo>
                    <a:pt x="5659637" y="0"/>
                  </a:lnTo>
                  <a:lnTo>
                    <a:pt x="5659637" y="1657748"/>
                  </a:lnTo>
                  <a:lnTo>
                    <a:pt x="0" y="1657748"/>
                  </a:lnTo>
                  <a:close/>
                </a:path>
              </a:pathLst>
            </a:custGeom>
            <a:solidFill>
              <a:srgbClr val="000000">
                <a:alpha val="0"/>
              </a:srgbClr>
            </a:solidFill>
          </p:spPr>
        </p:sp>
        <p:sp>
          <p:nvSpPr>
            <p:cNvPr name="TextBox 38" id="38"/>
            <p:cNvSpPr txBox="true"/>
            <p:nvPr/>
          </p:nvSpPr>
          <p:spPr>
            <a:xfrm>
              <a:off x="0" y="-9525"/>
              <a:ext cx="5659637" cy="1667273"/>
            </a:xfrm>
            <a:prstGeom prst="rect">
              <a:avLst/>
            </a:prstGeom>
          </p:spPr>
          <p:txBody>
            <a:bodyPr anchor="t" rtlCol="false" tIns="0" lIns="0" bIns="0" rIns="0"/>
            <a:lstStyle/>
            <a:p>
              <a:pPr algn="l">
                <a:lnSpc>
                  <a:spcPts val="3750"/>
                </a:lnSpc>
              </a:pPr>
              <a:r>
                <a:rPr lang="en-US" sz="3000" b="true">
                  <a:solidFill>
                    <a:srgbClr val="00002E"/>
                  </a:solidFill>
                  <a:latin typeface="Nunito Bold"/>
                  <a:ea typeface="Nunito Bold"/>
                  <a:cs typeface="Nunito Bold"/>
                  <a:sym typeface="Nunito Bold"/>
                </a:rPr>
                <a:t>Cost-Effective Solution</a:t>
              </a:r>
            </a:p>
          </p:txBody>
        </p:sp>
      </p:grpSp>
      <p:grpSp>
        <p:nvGrpSpPr>
          <p:cNvPr name="Group 39" id="39"/>
          <p:cNvGrpSpPr/>
          <p:nvPr/>
        </p:nvGrpSpPr>
        <p:grpSpPr>
          <a:xfrm rot="0">
            <a:off x="13033176" y="5612769"/>
            <a:ext cx="4226124" cy="1873449"/>
            <a:chOff x="0" y="0"/>
            <a:chExt cx="5634832" cy="2497932"/>
          </a:xfrm>
        </p:grpSpPr>
        <p:sp>
          <p:nvSpPr>
            <p:cNvPr name="Freeform 40" id="40"/>
            <p:cNvSpPr/>
            <p:nvPr/>
          </p:nvSpPr>
          <p:spPr>
            <a:xfrm flipH="false" flipV="false" rot="0">
              <a:off x="0" y="0"/>
              <a:ext cx="5634832" cy="2497932"/>
            </a:xfrm>
            <a:custGeom>
              <a:avLst/>
              <a:gdLst/>
              <a:ahLst/>
              <a:cxnLst/>
              <a:rect r="r" b="b" t="t" l="l"/>
              <a:pathLst>
                <a:path h="2497932" w="5634832">
                  <a:moveTo>
                    <a:pt x="0" y="0"/>
                  </a:moveTo>
                  <a:lnTo>
                    <a:pt x="5634832" y="0"/>
                  </a:lnTo>
                  <a:lnTo>
                    <a:pt x="5634832" y="2497932"/>
                  </a:lnTo>
                  <a:lnTo>
                    <a:pt x="0" y="2497932"/>
                  </a:lnTo>
                  <a:close/>
                </a:path>
              </a:pathLst>
            </a:custGeom>
            <a:solidFill>
              <a:srgbClr val="000000">
                <a:alpha val="0"/>
              </a:srgbClr>
            </a:solidFill>
          </p:spPr>
        </p:sp>
        <p:sp>
          <p:nvSpPr>
            <p:cNvPr name="TextBox 41" id="41"/>
            <p:cNvSpPr txBox="true"/>
            <p:nvPr/>
          </p:nvSpPr>
          <p:spPr>
            <a:xfrm>
              <a:off x="0" y="-104775"/>
              <a:ext cx="5634832" cy="2602707"/>
            </a:xfrm>
            <a:prstGeom prst="rect">
              <a:avLst/>
            </a:prstGeom>
          </p:spPr>
          <p:txBody>
            <a:bodyPr anchor="t" rtlCol="false" tIns="0" lIns="0" bIns="0" rIns="0"/>
            <a:lstStyle/>
            <a:p>
              <a:pPr algn="l">
                <a:lnSpc>
                  <a:spcPts val="4787"/>
                </a:lnSpc>
              </a:pPr>
              <a:r>
                <a:rPr lang="en-US" sz="3000">
                  <a:solidFill>
                    <a:srgbClr val="00002E"/>
                  </a:solidFill>
                  <a:latin typeface="PT Sans"/>
                  <a:ea typeface="PT Sans"/>
                  <a:cs typeface="PT Sans"/>
                  <a:sym typeface="PT Sans"/>
                </a:rPr>
                <a:t>Implement a cost-effective and efficient solution using Arduino.</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3F3FF">
                <a:alpha val="31373"/>
              </a:srgbClr>
            </a:solidFill>
          </p:spPr>
        </p:sp>
      </p:grpSp>
      <p:grpSp>
        <p:nvGrpSpPr>
          <p:cNvPr name="Group 6" id="6"/>
          <p:cNvGrpSpPr/>
          <p:nvPr/>
        </p:nvGrpSpPr>
        <p:grpSpPr>
          <a:xfrm rot="0">
            <a:off x="1028700" y="1014412"/>
            <a:ext cx="6526858" cy="1150722"/>
            <a:chOff x="0" y="0"/>
            <a:chExt cx="8702477" cy="1534295"/>
          </a:xfrm>
        </p:grpSpPr>
        <p:sp>
          <p:nvSpPr>
            <p:cNvPr name="Freeform 7" id="7"/>
            <p:cNvSpPr/>
            <p:nvPr/>
          </p:nvSpPr>
          <p:spPr>
            <a:xfrm flipH="false" flipV="false" rot="0">
              <a:off x="0" y="0"/>
              <a:ext cx="8702477" cy="1534295"/>
            </a:xfrm>
            <a:custGeom>
              <a:avLst/>
              <a:gdLst/>
              <a:ahLst/>
              <a:cxnLst/>
              <a:rect r="r" b="b" t="t" l="l"/>
              <a:pathLst>
                <a:path h="1534295" w="8702477">
                  <a:moveTo>
                    <a:pt x="0" y="0"/>
                  </a:moveTo>
                  <a:lnTo>
                    <a:pt x="8702477" y="0"/>
                  </a:lnTo>
                  <a:lnTo>
                    <a:pt x="8702477" y="1534295"/>
                  </a:lnTo>
                  <a:lnTo>
                    <a:pt x="0" y="1534295"/>
                  </a:lnTo>
                  <a:close/>
                </a:path>
              </a:pathLst>
            </a:custGeom>
            <a:solidFill>
              <a:srgbClr val="000000">
                <a:alpha val="0"/>
              </a:srgbClr>
            </a:solidFill>
          </p:spPr>
        </p:sp>
        <p:sp>
          <p:nvSpPr>
            <p:cNvPr name="TextBox 8" id="8"/>
            <p:cNvSpPr txBox="true"/>
            <p:nvPr/>
          </p:nvSpPr>
          <p:spPr>
            <a:xfrm>
              <a:off x="0" y="-28575"/>
              <a:ext cx="8702477" cy="1562870"/>
            </a:xfrm>
            <a:prstGeom prst="rect">
              <a:avLst/>
            </a:prstGeom>
          </p:spPr>
          <p:txBody>
            <a:bodyPr anchor="t" rtlCol="false" tIns="0" lIns="0" bIns="0" rIns="0"/>
            <a:lstStyle/>
            <a:p>
              <a:pPr algn="l">
                <a:lnSpc>
                  <a:spcPts val="6841"/>
                </a:lnSpc>
              </a:pPr>
              <a:r>
                <a:rPr lang="en-US" sz="5498" b="true">
                  <a:solidFill>
                    <a:srgbClr val="00002E"/>
                  </a:solidFill>
                  <a:latin typeface="Nunito Bold"/>
                  <a:ea typeface="Nunito Bold"/>
                  <a:cs typeface="Nunito Bold"/>
                  <a:sym typeface="Nunito Bold"/>
                </a:rPr>
                <a:t>Theory</a:t>
              </a:r>
            </a:p>
          </p:txBody>
        </p:sp>
      </p:grpSp>
      <p:grpSp>
        <p:nvGrpSpPr>
          <p:cNvPr name="Group 9" id="9"/>
          <p:cNvGrpSpPr/>
          <p:nvPr/>
        </p:nvGrpSpPr>
        <p:grpSpPr>
          <a:xfrm rot="0">
            <a:off x="1028700" y="2499718"/>
            <a:ext cx="10218092" cy="724474"/>
            <a:chOff x="0" y="0"/>
            <a:chExt cx="13624123" cy="965966"/>
          </a:xfrm>
        </p:grpSpPr>
        <p:sp>
          <p:nvSpPr>
            <p:cNvPr name="Freeform 10" id="10"/>
            <p:cNvSpPr/>
            <p:nvPr/>
          </p:nvSpPr>
          <p:spPr>
            <a:xfrm flipH="false" flipV="false" rot="0">
              <a:off x="0" y="0"/>
              <a:ext cx="13624123" cy="965966"/>
            </a:xfrm>
            <a:custGeom>
              <a:avLst/>
              <a:gdLst/>
              <a:ahLst/>
              <a:cxnLst/>
              <a:rect r="r" b="b" t="t" l="l"/>
              <a:pathLst>
                <a:path h="965966" w="13624123">
                  <a:moveTo>
                    <a:pt x="0" y="0"/>
                  </a:moveTo>
                  <a:lnTo>
                    <a:pt x="13624123" y="0"/>
                  </a:lnTo>
                  <a:lnTo>
                    <a:pt x="13624123" y="965966"/>
                  </a:lnTo>
                  <a:lnTo>
                    <a:pt x="0" y="965966"/>
                  </a:lnTo>
                  <a:close/>
                </a:path>
              </a:pathLst>
            </a:custGeom>
            <a:solidFill>
              <a:srgbClr val="000000">
                <a:alpha val="0"/>
              </a:srgbClr>
            </a:solidFill>
          </p:spPr>
        </p:sp>
        <p:sp>
          <p:nvSpPr>
            <p:cNvPr name="TextBox 11" id="11"/>
            <p:cNvSpPr txBox="true"/>
            <p:nvPr/>
          </p:nvSpPr>
          <p:spPr>
            <a:xfrm>
              <a:off x="0" y="-133350"/>
              <a:ext cx="13624123" cy="1099316"/>
            </a:xfrm>
            <a:prstGeom prst="rect">
              <a:avLst/>
            </a:prstGeom>
          </p:spPr>
          <p:txBody>
            <a:bodyPr anchor="t" rtlCol="false" tIns="0" lIns="0" bIns="0" rIns="0"/>
            <a:lstStyle/>
            <a:p>
              <a:pPr algn="l" marL="646985" indent="-215662" lvl="2">
                <a:lnSpc>
                  <a:spcPts val="5338"/>
                </a:lnSpc>
                <a:buFont typeface="Arial"/>
                <a:buChar char="⚬"/>
              </a:pPr>
              <a:r>
                <a:rPr lang="en-US" b="true" sz="3300">
                  <a:solidFill>
                    <a:srgbClr val="00002E"/>
                  </a:solidFill>
                  <a:latin typeface="PT Sans Bold"/>
                  <a:ea typeface="PT Sans Bold"/>
                  <a:cs typeface="PT Sans Bold"/>
                  <a:sym typeface="PT Sans Bold"/>
                </a:rPr>
                <a:t>Formal Design:</a:t>
              </a:r>
            </a:p>
          </p:txBody>
        </p:sp>
      </p:grpSp>
      <p:grpSp>
        <p:nvGrpSpPr>
          <p:cNvPr name="Group 12" id="12"/>
          <p:cNvGrpSpPr/>
          <p:nvPr/>
        </p:nvGrpSpPr>
        <p:grpSpPr>
          <a:xfrm rot="0">
            <a:off x="970806" y="3202482"/>
            <a:ext cx="11682766" cy="658570"/>
            <a:chOff x="0" y="0"/>
            <a:chExt cx="15577021" cy="878093"/>
          </a:xfrm>
        </p:grpSpPr>
        <p:sp>
          <p:nvSpPr>
            <p:cNvPr name="Freeform 13" id="13"/>
            <p:cNvSpPr/>
            <p:nvPr/>
          </p:nvSpPr>
          <p:spPr>
            <a:xfrm flipH="false" flipV="false" rot="0">
              <a:off x="0" y="0"/>
              <a:ext cx="15577021" cy="878093"/>
            </a:xfrm>
            <a:custGeom>
              <a:avLst/>
              <a:gdLst/>
              <a:ahLst/>
              <a:cxnLst/>
              <a:rect r="r" b="b" t="t" l="l"/>
              <a:pathLst>
                <a:path h="878093" w="15577021">
                  <a:moveTo>
                    <a:pt x="0" y="0"/>
                  </a:moveTo>
                  <a:lnTo>
                    <a:pt x="15577021" y="0"/>
                  </a:lnTo>
                  <a:lnTo>
                    <a:pt x="15577021" y="878093"/>
                  </a:lnTo>
                  <a:lnTo>
                    <a:pt x="0" y="878093"/>
                  </a:lnTo>
                  <a:close/>
                </a:path>
              </a:pathLst>
            </a:custGeom>
            <a:solidFill>
              <a:srgbClr val="000000">
                <a:alpha val="0"/>
              </a:srgbClr>
            </a:solidFill>
          </p:spPr>
        </p:sp>
        <p:sp>
          <p:nvSpPr>
            <p:cNvPr name="TextBox 14" id="14"/>
            <p:cNvSpPr txBox="true"/>
            <p:nvPr/>
          </p:nvSpPr>
          <p:spPr>
            <a:xfrm>
              <a:off x="0" y="-114300"/>
              <a:ext cx="15577021" cy="992393"/>
            </a:xfrm>
            <a:prstGeom prst="rect">
              <a:avLst/>
            </a:prstGeom>
          </p:spPr>
          <p:txBody>
            <a:bodyPr anchor="t" rtlCol="false" tIns="0" lIns="0" bIns="0" rIns="0"/>
            <a:lstStyle/>
            <a:p>
              <a:pPr algn="l">
                <a:lnSpc>
                  <a:spcPts val="4813"/>
                </a:lnSpc>
              </a:pPr>
              <a:r>
                <a:rPr lang="en-US" sz="3000">
                  <a:solidFill>
                    <a:srgbClr val="00002E"/>
                  </a:solidFill>
                  <a:latin typeface="PT Sans"/>
                  <a:ea typeface="PT Sans"/>
                  <a:cs typeface="PT Sans"/>
                  <a:sym typeface="PT Sans"/>
                </a:rPr>
                <a:t>     Sensors: DHT11 (Temp &amp; humidity),LDR (light), soil moisture.</a:t>
              </a:r>
            </a:p>
          </p:txBody>
        </p:sp>
      </p:grpSp>
      <p:grpSp>
        <p:nvGrpSpPr>
          <p:cNvPr name="Group 15" id="15"/>
          <p:cNvGrpSpPr/>
          <p:nvPr/>
        </p:nvGrpSpPr>
        <p:grpSpPr>
          <a:xfrm rot="0">
            <a:off x="970806" y="4080127"/>
            <a:ext cx="10218092" cy="653141"/>
            <a:chOff x="0" y="0"/>
            <a:chExt cx="13624123" cy="870855"/>
          </a:xfrm>
        </p:grpSpPr>
        <p:sp>
          <p:nvSpPr>
            <p:cNvPr name="Freeform 16" id="16"/>
            <p:cNvSpPr/>
            <p:nvPr/>
          </p:nvSpPr>
          <p:spPr>
            <a:xfrm flipH="false" flipV="false" rot="0">
              <a:off x="0" y="0"/>
              <a:ext cx="13624123" cy="870855"/>
            </a:xfrm>
            <a:custGeom>
              <a:avLst/>
              <a:gdLst/>
              <a:ahLst/>
              <a:cxnLst/>
              <a:rect r="r" b="b" t="t" l="l"/>
              <a:pathLst>
                <a:path h="870855" w="13624123">
                  <a:moveTo>
                    <a:pt x="0" y="0"/>
                  </a:moveTo>
                  <a:lnTo>
                    <a:pt x="13624123" y="0"/>
                  </a:lnTo>
                  <a:lnTo>
                    <a:pt x="13624123" y="870855"/>
                  </a:lnTo>
                  <a:lnTo>
                    <a:pt x="0" y="870855"/>
                  </a:lnTo>
                  <a:close/>
                </a:path>
              </a:pathLst>
            </a:custGeom>
            <a:solidFill>
              <a:srgbClr val="000000">
                <a:alpha val="0"/>
              </a:srgbClr>
            </a:solidFill>
          </p:spPr>
        </p:sp>
        <p:sp>
          <p:nvSpPr>
            <p:cNvPr name="TextBox 17" id="17"/>
            <p:cNvSpPr txBox="true"/>
            <p:nvPr/>
          </p:nvSpPr>
          <p:spPr>
            <a:xfrm>
              <a:off x="0" y="-114300"/>
              <a:ext cx="13624123" cy="985155"/>
            </a:xfrm>
            <a:prstGeom prst="rect">
              <a:avLst/>
            </a:prstGeom>
          </p:spPr>
          <p:txBody>
            <a:bodyPr anchor="t" rtlCol="false" tIns="0" lIns="0" bIns="0" rIns="0"/>
            <a:lstStyle/>
            <a:p>
              <a:pPr algn="l">
                <a:lnSpc>
                  <a:spcPts val="4813"/>
                </a:lnSpc>
              </a:pPr>
              <a:r>
                <a:rPr lang="en-US" sz="3000">
                  <a:solidFill>
                    <a:srgbClr val="00002E"/>
                  </a:solidFill>
                  <a:latin typeface="PT Sans"/>
                  <a:ea typeface="PT Sans"/>
                  <a:cs typeface="PT Sans"/>
                  <a:sym typeface="PT Sans"/>
                </a:rPr>
                <a:t>     Actuators: Virtual fans, LEDs, water pumps.</a:t>
              </a:r>
            </a:p>
          </p:txBody>
        </p:sp>
      </p:grpSp>
      <p:grpSp>
        <p:nvGrpSpPr>
          <p:cNvPr name="Group 18" id="18"/>
          <p:cNvGrpSpPr/>
          <p:nvPr/>
        </p:nvGrpSpPr>
        <p:grpSpPr>
          <a:xfrm rot="0">
            <a:off x="1028700" y="4954071"/>
            <a:ext cx="10218092" cy="653141"/>
            <a:chOff x="0" y="0"/>
            <a:chExt cx="13624123" cy="870855"/>
          </a:xfrm>
        </p:grpSpPr>
        <p:sp>
          <p:nvSpPr>
            <p:cNvPr name="Freeform 19" id="19"/>
            <p:cNvSpPr/>
            <p:nvPr/>
          </p:nvSpPr>
          <p:spPr>
            <a:xfrm flipH="false" flipV="false" rot="0">
              <a:off x="0" y="0"/>
              <a:ext cx="13624123" cy="870855"/>
            </a:xfrm>
            <a:custGeom>
              <a:avLst/>
              <a:gdLst/>
              <a:ahLst/>
              <a:cxnLst/>
              <a:rect r="r" b="b" t="t" l="l"/>
              <a:pathLst>
                <a:path h="870855" w="13624123">
                  <a:moveTo>
                    <a:pt x="0" y="0"/>
                  </a:moveTo>
                  <a:lnTo>
                    <a:pt x="13624123" y="0"/>
                  </a:lnTo>
                  <a:lnTo>
                    <a:pt x="13624123" y="870855"/>
                  </a:lnTo>
                  <a:lnTo>
                    <a:pt x="0" y="870855"/>
                  </a:lnTo>
                  <a:close/>
                </a:path>
              </a:pathLst>
            </a:custGeom>
            <a:solidFill>
              <a:srgbClr val="000000">
                <a:alpha val="0"/>
              </a:srgbClr>
            </a:solidFill>
          </p:spPr>
        </p:sp>
        <p:sp>
          <p:nvSpPr>
            <p:cNvPr name="TextBox 20" id="20"/>
            <p:cNvSpPr txBox="true"/>
            <p:nvPr/>
          </p:nvSpPr>
          <p:spPr>
            <a:xfrm>
              <a:off x="0" y="-114300"/>
              <a:ext cx="13624123" cy="985155"/>
            </a:xfrm>
            <a:prstGeom prst="rect">
              <a:avLst/>
            </a:prstGeom>
          </p:spPr>
          <p:txBody>
            <a:bodyPr anchor="t" rtlCol="false" tIns="0" lIns="0" bIns="0" rIns="0"/>
            <a:lstStyle/>
            <a:p>
              <a:pPr algn="l">
                <a:lnSpc>
                  <a:spcPts val="4813"/>
                </a:lnSpc>
              </a:pPr>
              <a:r>
                <a:rPr lang="en-US" sz="3000">
                  <a:solidFill>
                    <a:srgbClr val="00002E"/>
                  </a:solidFill>
                  <a:latin typeface="PT Sans"/>
                  <a:ea typeface="PT Sans"/>
                  <a:cs typeface="PT Sans"/>
                  <a:sym typeface="PT Sans"/>
                </a:rPr>
                <a:t>     LCD Screen</a:t>
              </a:r>
            </a:p>
          </p:txBody>
        </p:sp>
      </p:grpSp>
      <p:grpSp>
        <p:nvGrpSpPr>
          <p:cNvPr name="Group 21" id="21"/>
          <p:cNvGrpSpPr/>
          <p:nvPr/>
        </p:nvGrpSpPr>
        <p:grpSpPr>
          <a:xfrm rot="0">
            <a:off x="970806" y="5983188"/>
            <a:ext cx="10218092" cy="724475"/>
            <a:chOff x="0" y="0"/>
            <a:chExt cx="13624123" cy="965966"/>
          </a:xfrm>
        </p:grpSpPr>
        <p:sp>
          <p:nvSpPr>
            <p:cNvPr name="Freeform 22" id="22"/>
            <p:cNvSpPr/>
            <p:nvPr/>
          </p:nvSpPr>
          <p:spPr>
            <a:xfrm flipH="false" flipV="false" rot="0">
              <a:off x="0" y="0"/>
              <a:ext cx="13624123" cy="965966"/>
            </a:xfrm>
            <a:custGeom>
              <a:avLst/>
              <a:gdLst/>
              <a:ahLst/>
              <a:cxnLst/>
              <a:rect r="r" b="b" t="t" l="l"/>
              <a:pathLst>
                <a:path h="965966" w="13624123">
                  <a:moveTo>
                    <a:pt x="0" y="0"/>
                  </a:moveTo>
                  <a:lnTo>
                    <a:pt x="13624123" y="0"/>
                  </a:lnTo>
                  <a:lnTo>
                    <a:pt x="13624123" y="965966"/>
                  </a:lnTo>
                  <a:lnTo>
                    <a:pt x="0" y="965966"/>
                  </a:lnTo>
                  <a:close/>
                </a:path>
              </a:pathLst>
            </a:custGeom>
            <a:solidFill>
              <a:srgbClr val="000000">
                <a:alpha val="0"/>
              </a:srgbClr>
            </a:solidFill>
          </p:spPr>
        </p:sp>
        <p:sp>
          <p:nvSpPr>
            <p:cNvPr name="TextBox 23" id="23"/>
            <p:cNvSpPr txBox="true"/>
            <p:nvPr/>
          </p:nvSpPr>
          <p:spPr>
            <a:xfrm>
              <a:off x="0" y="-133350"/>
              <a:ext cx="13624123" cy="1099316"/>
            </a:xfrm>
            <a:prstGeom prst="rect">
              <a:avLst/>
            </a:prstGeom>
          </p:spPr>
          <p:txBody>
            <a:bodyPr anchor="t" rtlCol="false" tIns="0" lIns="0" bIns="0" rIns="0"/>
            <a:lstStyle/>
            <a:p>
              <a:pPr algn="l" marL="646985" indent="-215662" lvl="2">
                <a:lnSpc>
                  <a:spcPts val="5338"/>
                </a:lnSpc>
                <a:buFont typeface="Arial"/>
                <a:buChar char="⚬"/>
              </a:pPr>
              <a:r>
                <a:rPr lang="en-US" b="true" sz="3300">
                  <a:solidFill>
                    <a:srgbClr val="00002E"/>
                  </a:solidFill>
                  <a:latin typeface="PT Sans Bold"/>
                  <a:ea typeface="PT Sans Bold"/>
                  <a:cs typeface="PT Sans Bold"/>
                  <a:sym typeface="PT Sans Bold"/>
                </a:rPr>
                <a:t>Mathematical Models:</a:t>
              </a:r>
            </a:p>
          </p:txBody>
        </p:sp>
      </p:grpSp>
      <p:grpSp>
        <p:nvGrpSpPr>
          <p:cNvPr name="Group 24" id="24"/>
          <p:cNvGrpSpPr/>
          <p:nvPr/>
        </p:nvGrpSpPr>
        <p:grpSpPr>
          <a:xfrm rot="0">
            <a:off x="0" y="6722963"/>
            <a:ext cx="11800376" cy="1458247"/>
            <a:chOff x="0" y="0"/>
            <a:chExt cx="15733835" cy="1944329"/>
          </a:xfrm>
        </p:grpSpPr>
        <p:sp>
          <p:nvSpPr>
            <p:cNvPr name="Freeform 25" id="25"/>
            <p:cNvSpPr/>
            <p:nvPr/>
          </p:nvSpPr>
          <p:spPr>
            <a:xfrm flipH="false" flipV="false" rot="0">
              <a:off x="0" y="0"/>
              <a:ext cx="15733835" cy="1944329"/>
            </a:xfrm>
            <a:custGeom>
              <a:avLst/>
              <a:gdLst/>
              <a:ahLst/>
              <a:cxnLst/>
              <a:rect r="r" b="b" t="t" l="l"/>
              <a:pathLst>
                <a:path h="1944329" w="15733835">
                  <a:moveTo>
                    <a:pt x="0" y="0"/>
                  </a:moveTo>
                  <a:lnTo>
                    <a:pt x="15733835" y="0"/>
                  </a:lnTo>
                  <a:lnTo>
                    <a:pt x="15733835" y="1944329"/>
                  </a:lnTo>
                  <a:lnTo>
                    <a:pt x="0" y="1944329"/>
                  </a:lnTo>
                  <a:close/>
                </a:path>
              </a:pathLst>
            </a:custGeom>
            <a:solidFill>
              <a:srgbClr val="000000">
                <a:alpha val="0"/>
              </a:srgbClr>
            </a:solidFill>
          </p:spPr>
        </p:sp>
        <p:sp>
          <p:nvSpPr>
            <p:cNvPr name="TextBox 26" id="26"/>
            <p:cNvSpPr txBox="true"/>
            <p:nvPr/>
          </p:nvSpPr>
          <p:spPr>
            <a:xfrm>
              <a:off x="0" y="-114300"/>
              <a:ext cx="15733835" cy="2058629"/>
            </a:xfrm>
            <a:prstGeom prst="rect">
              <a:avLst/>
            </a:prstGeom>
          </p:spPr>
          <p:txBody>
            <a:bodyPr anchor="t" rtlCol="false" tIns="0" lIns="0" bIns="0" rIns="0"/>
            <a:lstStyle/>
            <a:p>
              <a:pPr algn="ctr">
                <a:lnSpc>
                  <a:spcPts val="4812"/>
                </a:lnSpc>
              </a:pPr>
              <a:r>
                <a:rPr lang="en-US" sz="3000">
                  <a:solidFill>
                    <a:srgbClr val="00002E"/>
                  </a:solidFill>
                  <a:latin typeface="PT Sans"/>
                  <a:ea typeface="PT Sans"/>
                  <a:cs typeface="PT Sans"/>
                  <a:sym typeface="PT Sans"/>
                </a:rPr>
                <a:t>Sensor equations (voltage-to-light intensity conversion for</a:t>
              </a:r>
            </a:p>
            <a:p>
              <a:pPr algn="ctr">
                <a:lnSpc>
                  <a:spcPts val="4813"/>
                </a:lnSpc>
              </a:pPr>
              <a:r>
                <a:rPr lang="en-US" sz="3000">
                  <a:solidFill>
                    <a:srgbClr val="00002E"/>
                  </a:solidFill>
                  <a:latin typeface="PT Sans"/>
                  <a:ea typeface="PT Sans"/>
                  <a:cs typeface="PT Sans"/>
                  <a:sym typeface="PT Sans"/>
                </a:rPr>
                <a:t>  Light Intensity Sensor and conversion for Soil Moisture sensor).</a:t>
              </a:r>
            </a:p>
          </p:txBody>
        </p:sp>
      </p:grpSp>
      <p:grpSp>
        <p:nvGrpSpPr>
          <p:cNvPr name="Group 27" id="27"/>
          <p:cNvGrpSpPr/>
          <p:nvPr/>
        </p:nvGrpSpPr>
        <p:grpSpPr>
          <a:xfrm rot="0">
            <a:off x="663073" y="8209785"/>
            <a:ext cx="10218092" cy="1262714"/>
            <a:chOff x="0" y="0"/>
            <a:chExt cx="13624123" cy="1683619"/>
          </a:xfrm>
        </p:grpSpPr>
        <p:sp>
          <p:nvSpPr>
            <p:cNvPr name="Freeform 28" id="28"/>
            <p:cNvSpPr/>
            <p:nvPr/>
          </p:nvSpPr>
          <p:spPr>
            <a:xfrm flipH="false" flipV="false" rot="0">
              <a:off x="0" y="0"/>
              <a:ext cx="13624123" cy="1683619"/>
            </a:xfrm>
            <a:custGeom>
              <a:avLst/>
              <a:gdLst/>
              <a:ahLst/>
              <a:cxnLst/>
              <a:rect r="r" b="b" t="t" l="l"/>
              <a:pathLst>
                <a:path h="1683619" w="13624123">
                  <a:moveTo>
                    <a:pt x="0" y="0"/>
                  </a:moveTo>
                  <a:lnTo>
                    <a:pt x="13624123" y="0"/>
                  </a:lnTo>
                  <a:lnTo>
                    <a:pt x="13624123" y="1683619"/>
                  </a:lnTo>
                  <a:lnTo>
                    <a:pt x="0" y="1683619"/>
                  </a:lnTo>
                  <a:close/>
                </a:path>
              </a:pathLst>
            </a:custGeom>
            <a:solidFill>
              <a:srgbClr val="000000">
                <a:alpha val="0"/>
              </a:srgbClr>
            </a:solidFill>
          </p:spPr>
        </p:sp>
        <p:sp>
          <p:nvSpPr>
            <p:cNvPr name="TextBox 29" id="29"/>
            <p:cNvSpPr txBox="true"/>
            <p:nvPr/>
          </p:nvSpPr>
          <p:spPr>
            <a:xfrm>
              <a:off x="0" y="-114300"/>
              <a:ext cx="13624123" cy="1797919"/>
            </a:xfrm>
            <a:prstGeom prst="rect">
              <a:avLst/>
            </a:prstGeom>
          </p:spPr>
          <p:txBody>
            <a:bodyPr anchor="t" rtlCol="false" tIns="0" lIns="0" bIns="0" rIns="0"/>
            <a:lstStyle/>
            <a:p>
              <a:pPr algn="ctr">
                <a:lnSpc>
                  <a:spcPts val="4813"/>
                </a:lnSpc>
              </a:pPr>
              <a:r>
                <a:rPr lang="en-US" sz="3000">
                  <a:solidFill>
                    <a:srgbClr val="00002E"/>
                  </a:solidFill>
                  <a:latin typeface="PT Sans"/>
                  <a:ea typeface="PT Sans"/>
                  <a:cs typeface="PT Sans"/>
                  <a:sym typeface="PT Sans"/>
                </a:rPr>
                <a:t>      Threshold-based control logic (e.g., if light &lt; 20 → activate LED ).</a:t>
              </a:r>
            </a:p>
          </p:txBody>
        </p:sp>
      </p:grpSp>
      <p:grpSp>
        <p:nvGrpSpPr>
          <p:cNvPr name="Group 30" id="30"/>
          <p:cNvGrpSpPr/>
          <p:nvPr/>
        </p:nvGrpSpPr>
        <p:grpSpPr>
          <a:xfrm rot="0">
            <a:off x="12653572" y="2671057"/>
            <a:ext cx="5307798" cy="6824288"/>
            <a:chOff x="0" y="0"/>
            <a:chExt cx="7077064" cy="9099051"/>
          </a:xfrm>
        </p:grpSpPr>
        <p:sp>
          <p:nvSpPr>
            <p:cNvPr name="Freeform 31" id="31" descr="preencoded.png"/>
            <p:cNvSpPr/>
            <p:nvPr/>
          </p:nvSpPr>
          <p:spPr>
            <a:xfrm flipH="false" flipV="false" rot="0">
              <a:off x="0" y="0"/>
              <a:ext cx="7077075" cy="9099042"/>
            </a:xfrm>
            <a:custGeom>
              <a:avLst/>
              <a:gdLst/>
              <a:ahLst/>
              <a:cxnLst/>
              <a:rect r="r" b="b" t="t" l="l"/>
              <a:pathLst>
                <a:path h="9099042" w="7077075">
                  <a:moveTo>
                    <a:pt x="0" y="0"/>
                  </a:moveTo>
                  <a:lnTo>
                    <a:pt x="7077075" y="0"/>
                  </a:lnTo>
                  <a:lnTo>
                    <a:pt x="7077075" y="9099042"/>
                  </a:lnTo>
                  <a:lnTo>
                    <a:pt x="0" y="9099042"/>
                  </a:lnTo>
                  <a:lnTo>
                    <a:pt x="0" y="0"/>
                  </a:lnTo>
                  <a:close/>
                </a:path>
              </a:pathLst>
            </a:custGeom>
            <a:blipFill>
              <a:blip r:embed="rId4"/>
              <a:stretch>
                <a:fillRect l="-10" t="0" r="-10"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3F3FF">
                <a:alpha val="31373"/>
              </a:srgbClr>
            </a:solidFill>
          </p:spPr>
        </p:sp>
      </p:grpSp>
      <p:grpSp>
        <p:nvGrpSpPr>
          <p:cNvPr name="Group 6" id="6"/>
          <p:cNvGrpSpPr/>
          <p:nvPr/>
        </p:nvGrpSpPr>
        <p:grpSpPr>
          <a:xfrm rot="0">
            <a:off x="1028700" y="1024833"/>
            <a:ext cx="7136759" cy="1149148"/>
            <a:chOff x="0" y="0"/>
            <a:chExt cx="9515679" cy="1532198"/>
          </a:xfrm>
        </p:grpSpPr>
        <p:sp>
          <p:nvSpPr>
            <p:cNvPr name="Freeform 7" id="7"/>
            <p:cNvSpPr/>
            <p:nvPr/>
          </p:nvSpPr>
          <p:spPr>
            <a:xfrm flipH="false" flipV="false" rot="0">
              <a:off x="0" y="0"/>
              <a:ext cx="9515679" cy="1532198"/>
            </a:xfrm>
            <a:custGeom>
              <a:avLst/>
              <a:gdLst/>
              <a:ahLst/>
              <a:cxnLst/>
              <a:rect r="r" b="b" t="t" l="l"/>
              <a:pathLst>
                <a:path h="1532198" w="9515679">
                  <a:moveTo>
                    <a:pt x="0" y="0"/>
                  </a:moveTo>
                  <a:lnTo>
                    <a:pt x="9515679" y="0"/>
                  </a:lnTo>
                  <a:lnTo>
                    <a:pt x="9515679" y="1532198"/>
                  </a:lnTo>
                  <a:lnTo>
                    <a:pt x="0" y="1532198"/>
                  </a:lnTo>
                  <a:close/>
                </a:path>
              </a:pathLst>
            </a:custGeom>
            <a:solidFill>
              <a:srgbClr val="000000">
                <a:alpha val="0"/>
              </a:srgbClr>
            </a:solidFill>
          </p:spPr>
        </p:sp>
        <p:sp>
          <p:nvSpPr>
            <p:cNvPr name="TextBox 8" id="8"/>
            <p:cNvSpPr txBox="true"/>
            <p:nvPr/>
          </p:nvSpPr>
          <p:spPr>
            <a:xfrm>
              <a:off x="0" y="-28575"/>
              <a:ext cx="9515679" cy="1560773"/>
            </a:xfrm>
            <a:prstGeom prst="rect">
              <a:avLst/>
            </a:prstGeom>
          </p:spPr>
          <p:txBody>
            <a:bodyPr anchor="t" rtlCol="false" tIns="0" lIns="0" bIns="0" rIns="0"/>
            <a:lstStyle/>
            <a:p>
              <a:pPr algn="l">
                <a:lnSpc>
                  <a:spcPts val="6853"/>
                </a:lnSpc>
              </a:pPr>
              <a:r>
                <a:rPr lang="en-US" sz="5498" b="true">
                  <a:solidFill>
                    <a:srgbClr val="00002E"/>
                  </a:solidFill>
                  <a:latin typeface="Nunito Bold"/>
                  <a:ea typeface="Nunito Bold"/>
                  <a:cs typeface="Nunito Bold"/>
                  <a:sym typeface="Nunito Bold"/>
                </a:rPr>
                <a:t>System Flowchart</a:t>
              </a:r>
            </a:p>
          </p:txBody>
        </p:sp>
      </p:grpSp>
      <p:grpSp>
        <p:nvGrpSpPr>
          <p:cNvPr name="Group 9" id="9"/>
          <p:cNvGrpSpPr/>
          <p:nvPr/>
        </p:nvGrpSpPr>
        <p:grpSpPr>
          <a:xfrm rot="0">
            <a:off x="1028700" y="2654993"/>
            <a:ext cx="4161830" cy="697459"/>
            <a:chOff x="0" y="0"/>
            <a:chExt cx="5549107" cy="929945"/>
          </a:xfrm>
        </p:grpSpPr>
        <p:sp>
          <p:nvSpPr>
            <p:cNvPr name="Freeform 10" id="10"/>
            <p:cNvSpPr/>
            <p:nvPr/>
          </p:nvSpPr>
          <p:spPr>
            <a:xfrm flipH="false" flipV="false" rot="0">
              <a:off x="0" y="0"/>
              <a:ext cx="5549107" cy="929945"/>
            </a:xfrm>
            <a:custGeom>
              <a:avLst/>
              <a:gdLst/>
              <a:ahLst/>
              <a:cxnLst/>
              <a:rect r="r" b="b" t="t" l="l"/>
              <a:pathLst>
                <a:path h="929945" w="5549107">
                  <a:moveTo>
                    <a:pt x="0" y="0"/>
                  </a:moveTo>
                  <a:lnTo>
                    <a:pt x="5549107" y="0"/>
                  </a:lnTo>
                  <a:lnTo>
                    <a:pt x="5549107" y="929945"/>
                  </a:lnTo>
                  <a:lnTo>
                    <a:pt x="0" y="929945"/>
                  </a:lnTo>
                  <a:close/>
                </a:path>
              </a:pathLst>
            </a:custGeom>
            <a:solidFill>
              <a:srgbClr val="000000">
                <a:alpha val="0"/>
              </a:srgbClr>
            </a:solidFill>
          </p:spPr>
        </p:sp>
        <p:sp>
          <p:nvSpPr>
            <p:cNvPr name="TextBox 11" id="11"/>
            <p:cNvSpPr txBox="true"/>
            <p:nvPr/>
          </p:nvSpPr>
          <p:spPr>
            <a:xfrm>
              <a:off x="0" y="-19050"/>
              <a:ext cx="5549107" cy="948995"/>
            </a:xfrm>
            <a:prstGeom prst="rect">
              <a:avLst/>
            </a:prstGeom>
          </p:spPr>
          <p:txBody>
            <a:bodyPr anchor="t" rtlCol="false" tIns="0" lIns="0" bIns="0" rIns="0"/>
            <a:lstStyle/>
            <a:p>
              <a:pPr algn="l">
                <a:lnSpc>
                  <a:spcPts val="4125"/>
                </a:lnSpc>
              </a:pPr>
              <a:r>
                <a:rPr lang="en-US" sz="3300" b="true">
                  <a:solidFill>
                    <a:srgbClr val="00002E"/>
                  </a:solidFill>
                  <a:latin typeface="Nunito Bold"/>
                  <a:ea typeface="Nunito Bold"/>
                  <a:cs typeface="Nunito Bold"/>
                  <a:sym typeface="Nunito Bold"/>
                </a:rPr>
                <a:t>pseudo code</a:t>
              </a:r>
            </a:p>
          </p:txBody>
        </p:sp>
      </p:grpSp>
      <p:grpSp>
        <p:nvGrpSpPr>
          <p:cNvPr name="Group 12" id="12"/>
          <p:cNvGrpSpPr/>
          <p:nvPr/>
        </p:nvGrpSpPr>
        <p:grpSpPr>
          <a:xfrm rot="0">
            <a:off x="1028700" y="3460696"/>
            <a:ext cx="3121372" cy="625732"/>
            <a:chOff x="0" y="0"/>
            <a:chExt cx="4161829" cy="834309"/>
          </a:xfrm>
        </p:grpSpPr>
        <p:sp>
          <p:nvSpPr>
            <p:cNvPr name="Freeform 13" id="13"/>
            <p:cNvSpPr/>
            <p:nvPr/>
          </p:nvSpPr>
          <p:spPr>
            <a:xfrm flipH="false" flipV="false" rot="0">
              <a:off x="0" y="0"/>
              <a:ext cx="4161829" cy="834309"/>
            </a:xfrm>
            <a:custGeom>
              <a:avLst/>
              <a:gdLst/>
              <a:ahLst/>
              <a:cxnLst/>
              <a:rect r="r" b="b" t="t" l="l"/>
              <a:pathLst>
                <a:path h="834309" w="4161829">
                  <a:moveTo>
                    <a:pt x="0" y="0"/>
                  </a:moveTo>
                  <a:lnTo>
                    <a:pt x="4161829" y="0"/>
                  </a:lnTo>
                  <a:lnTo>
                    <a:pt x="4161829" y="834309"/>
                  </a:lnTo>
                  <a:lnTo>
                    <a:pt x="0" y="834309"/>
                  </a:lnTo>
                  <a:close/>
                </a:path>
              </a:pathLst>
            </a:custGeom>
            <a:solidFill>
              <a:srgbClr val="000000">
                <a:alpha val="0"/>
              </a:srgbClr>
            </a:solidFill>
          </p:spPr>
        </p:sp>
        <p:sp>
          <p:nvSpPr>
            <p:cNvPr name="TextBox 14" id="14"/>
            <p:cNvSpPr txBox="true"/>
            <p:nvPr/>
          </p:nvSpPr>
          <p:spPr>
            <a:xfrm>
              <a:off x="0" y="-9525"/>
              <a:ext cx="4161829" cy="843834"/>
            </a:xfrm>
            <a:prstGeom prst="rect">
              <a:avLst/>
            </a:prstGeom>
          </p:spPr>
          <p:txBody>
            <a:bodyPr anchor="t" rtlCol="false" tIns="0" lIns="0" bIns="0" rIns="0"/>
            <a:lstStyle/>
            <a:p>
              <a:pPr algn="l">
                <a:lnSpc>
                  <a:spcPts val="3769"/>
                </a:lnSpc>
              </a:pPr>
              <a:r>
                <a:rPr lang="en-US" sz="3000" b="true">
                  <a:solidFill>
                    <a:srgbClr val="00002E"/>
                  </a:solidFill>
                  <a:latin typeface="Nunito Bold"/>
                  <a:ea typeface="Nunito Bold"/>
                  <a:cs typeface="Nunito Bold"/>
                  <a:sym typeface="Nunito Bold"/>
                </a:rPr>
                <a:t>  Setup: </a:t>
              </a:r>
            </a:p>
          </p:txBody>
        </p:sp>
      </p:grpSp>
      <p:grpSp>
        <p:nvGrpSpPr>
          <p:cNvPr name="Group 15" id="15"/>
          <p:cNvGrpSpPr/>
          <p:nvPr/>
        </p:nvGrpSpPr>
        <p:grpSpPr>
          <a:xfrm rot="0">
            <a:off x="1293912" y="4115003"/>
            <a:ext cx="9137302" cy="653194"/>
            <a:chOff x="0" y="0"/>
            <a:chExt cx="12183069" cy="870925"/>
          </a:xfrm>
        </p:grpSpPr>
        <p:sp>
          <p:nvSpPr>
            <p:cNvPr name="Freeform 16" id="16"/>
            <p:cNvSpPr/>
            <p:nvPr/>
          </p:nvSpPr>
          <p:spPr>
            <a:xfrm flipH="false" flipV="false" rot="0">
              <a:off x="0" y="0"/>
              <a:ext cx="12183070" cy="870925"/>
            </a:xfrm>
            <a:custGeom>
              <a:avLst/>
              <a:gdLst/>
              <a:ahLst/>
              <a:cxnLst/>
              <a:rect r="r" b="b" t="t" l="l"/>
              <a:pathLst>
                <a:path h="870925" w="12183070">
                  <a:moveTo>
                    <a:pt x="0" y="0"/>
                  </a:moveTo>
                  <a:lnTo>
                    <a:pt x="12183070" y="0"/>
                  </a:lnTo>
                  <a:lnTo>
                    <a:pt x="12183070" y="870925"/>
                  </a:lnTo>
                  <a:lnTo>
                    <a:pt x="0" y="870925"/>
                  </a:lnTo>
                  <a:close/>
                </a:path>
              </a:pathLst>
            </a:custGeom>
            <a:solidFill>
              <a:srgbClr val="000000">
                <a:alpha val="0"/>
              </a:srgbClr>
            </a:solidFill>
          </p:spPr>
        </p:sp>
        <p:sp>
          <p:nvSpPr>
            <p:cNvPr name="TextBox 17" id="17"/>
            <p:cNvSpPr txBox="true"/>
            <p:nvPr/>
          </p:nvSpPr>
          <p:spPr>
            <a:xfrm>
              <a:off x="0" y="-114300"/>
              <a:ext cx="12183069" cy="985225"/>
            </a:xfrm>
            <a:prstGeom prst="rect">
              <a:avLst/>
            </a:prstGeom>
          </p:spPr>
          <p:txBody>
            <a:bodyPr anchor="t" rtlCol="false" tIns="0" lIns="0" bIns="0" rIns="0"/>
            <a:lstStyle/>
            <a:p>
              <a:pPr algn="l" marL="588169" indent="-196056" lvl="2">
                <a:lnSpc>
                  <a:spcPts val="4888"/>
                </a:lnSpc>
                <a:buFont typeface="Arial"/>
                <a:buChar char="⚬"/>
              </a:pPr>
              <a:r>
                <a:rPr lang="en-US" sz="3000">
                  <a:solidFill>
                    <a:srgbClr val="00002E"/>
                  </a:solidFill>
                  <a:latin typeface="PT Sans"/>
                  <a:ea typeface="PT Sans"/>
                  <a:cs typeface="PT Sans"/>
                  <a:sym typeface="PT Sans"/>
                </a:rPr>
                <a:t>Initialize DHT, LCD, SD card, relays.</a:t>
              </a:r>
            </a:p>
          </p:txBody>
        </p:sp>
      </p:grpSp>
      <p:grpSp>
        <p:nvGrpSpPr>
          <p:cNvPr name="Group 18" id="18"/>
          <p:cNvGrpSpPr/>
          <p:nvPr/>
        </p:nvGrpSpPr>
        <p:grpSpPr>
          <a:xfrm rot="0">
            <a:off x="1028700" y="5074882"/>
            <a:ext cx="3121372" cy="625732"/>
            <a:chOff x="0" y="0"/>
            <a:chExt cx="4161829" cy="834309"/>
          </a:xfrm>
        </p:grpSpPr>
        <p:sp>
          <p:nvSpPr>
            <p:cNvPr name="Freeform 19" id="19"/>
            <p:cNvSpPr/>
            <p:nvPr/>
          </p:nvSpPr>
          <p:spPr>
            <a:xfrm flipH="false" flipV="false" rot="0">
              <a:off x="0" y="0"/>
              <a:ext cx="4161829" cy="834309"/>
            </a:xfrm>
            <a:custGeom>
              <a:avLst/>
              <a:gdLst/>
              <a:ahLst/>
              <a:cxnLst/>
              <a:rect r="r" b="b" t="t" l="l"/>
              <a:pathLst>
                <a:path h="834309" w="4161829">
                  <a:moveTo>
                    <a:pt x="0" y="0"/>
                  </a:moveTo>
                  <a:lnTo>
                    <a:pt x="4161829" y="0"/>
                  </a:lnTo>
                  <a:lnTo>
                    <a:pt x="4161829" y="834309"/>
                  </a:lnTo>
                  <a:lnTo>
                    <a:pt x="0" y="834309"/>
                  </a:lnTo>
                  <a:close/>
                </a:path>
              </a:pathLst>
            </a:custGeom>
            <a:solidFill>
              <a:srgbClr val="000000">
                <a:alpha val="0"/>
              </a:srgbClr>
            </a:solidFill>
          </p:spPr>
        </p:sp>
        <p:sp>
          <p:nvSpPr>
            <p:cNvPr name="TextBox 20" id="20"/>
            <p:cNvSpPr txBox="true"/>
            <p:nvPr/>
          </p:nvSpPr>
          <p:spPr>
            <a:xfrm>
              <a:off x="0" y="-9525"/>
              <a:ext cx="4161829" cy="843834"/>
            </a:xfrm>
            <a:prstGeom prst="rect">
              <a:avLst/>
            </a:prstGeom>
          </p:spPr>
          <p:txBody>
            <a:bodyPr anchor="t" rtlCol="false" tIns="0" lIns="0" bIns="0" rIns="0"/>
            <a:lstStyle/>
            <a:p>
              <a:pPr algn="l">
                <a:lnSpc>
                  <a:spcPts val="3769"/>
                </a:lnSpc>
              </a:pPr>
              <a:r>
                <a:rPr lang="en-US" sz="3000" b="true">
                  <a:solidFill>
                    <a:srgbClr val="00002E"/>
                  </a:solidFill>
                  <a:latin typeface="Nunito Bold"/>
                  <a:ea typeface="Nunito Bold"/>
                  <a:cs typeface="Nunito Bold"/>
                  <a:sym typeface="Nunito Bold"/>
                </a:rPr>
                <a:t>  Loop: </a:t>
              </a:r>
            </a:p>
          </p:txBody>
        </p:sp>
      </p:grpSp>
      <p:grpSp>
        <p:nvGrpSpPr>
          <p:cNvPr name="Group 21" id="21"/>
          <p:cNvGrpSpPr/>
          <p:nvPr/>
        </p:nvGrpSpPr>
        <p:grpSpPr>
          <a:xfrm rot="0">
            <a:off x="1293912" y="5777542"/>
            <a:ext cx="10497865" cy="1461792"/>
            <a:chOff x="0" y="0"/>
            <a:chExt cx="13997153" cy="1949056"/>
          </a:xfrm>
        </p:grpSpPr>
        <p:sp>
          <p:nvSpPr>
            <p:cNvPr name="Freeform 22" id="22"/>
            <p:cNvSpPr/>
            <p:nvPr/>
          </p:nvSpPr>
          <p:spPr>
            <a:xfrm flipH="false" flipV="false" rot="0">
              <a:off x="0" y="0"/>
              <a:ext cx="13997153" cy="1949056"/>
            </a:xfrm>
            <a:custGeom>
              <a:avLst/>
              <a:gdLst/>
              <a:ahLst/>
              <a:cxnLst/>
              <a:rect r="r" b="b" t="t" l="l"/>
              <a:pathLst>
                <a:path h="1949056" w="13997153">
                  <a:moveTo>
                    <a:pt x="0" y="0"/>
                  </a:moveTo>
                  <a:lnTo>
                    <a:pt x="13997153" y="0"/>
                  </a:lnTo>
                  <a:lnTo>
                    <a:pt x="13997153" y="1949056"/>
                  </a:lnTo>
                  <a:lnTo>
                    <a:pt x="0" y="1949056"/>
                  </a:lnTo>
                  <a:close/>
                </a:path>
              </a:pathLst>
            </a:custGeom>
            <a:solidFill>
              <a:srgbClr val="000000">
                <a:alpha val="0"/>
              </a:srgbClr>
            </a:solidFill>
          </p:spPr>
        </p:sp>
        <p:sp>
          <p:nvSpPr>
            <p:cNvPr name="TextBox 23" id="23"/>
            <p:cNvSpPr txBox="true"/>
            <p:nvPr/>
          </p:nvSpPr>
          <p:spPr>
            <a:xfrm>
              <a:off x="0" y="-114300"/>
              <a:ext cx="13997153" cy="2063356"/>
            </a:xfrm>
            <a:prstGeom prst="rect">
              <a:avLst/>
            </a:prstGeom>
          </p:spPr>
          <p:txBody>
            <a:bodyPr anchor="t" rtlCol="false" tIns="0" lIns="0" bIns="0" rIns="0"/>
            <a:lstStyle/>
            <a:p>
              <a:pPr algn="l" marL="588073" indent="-196024" lvl="2">
                <a:lnSpc>
                  <a:spcPts val="4887"/>
                </a:lnSpc>
                <a:buFont typeface="Arial"/>
                <a:buChar char="⚬"/>
              </a:pPr>
              <a:r>
                <a:rPr lang="en-US" sz="3000">
                  <a:solidFill>
                    <a:srgbClr val="00002E"/>
                  </a:solidFill>
                  <a:latin typeface="PT Sans"/>
                  <a:ea typeface="PT Sans"/>
                  <a:cs typeface="PT Sans"/>
                  <a:sym typeface="PT Sans"/>
                </a:rPr>
                <a:t>Read temperature, humidity, soil moisture, light.   </a:t>
              </a:r>
            </a:p>
            <a:p>
              <a:pPr algn="l" marL="588169" indent="-196056" lvl="2">
                <a:lnSpc>
                  <a:spcPts val="4888"/>
                </a:lnSpc>
                <a:buFont typeface="Arial"/>
                <a:buChar char="⚬"/>
              </a:pPr>
              <a:r>
                <a:rPr lang="en-US" sz="3000">
                  <a:solidFill>
                    <a:srgbClr val="00002E"/>
                  </a:solidFill>
                  <a:latin typeface="PT Sans"/>
                  <a:ea typeface="PT Sans"/>
                  <a:cs typeface="PT Sans"/>
                  <a:sym typeface="PT Sans"/>
                </a:rPr>
                <a:t>Display data on LCD. </a:t>
              </a:r>
            </a:p>
          </p:txBody>
        </p:sp>
      </p:grpSp>
      <p:grpSp>
        <p:nvGrpSpPr>
          <p:cNvPr name="Group 24" id="24"/>
          <p:cNvGrpSpPr/>
          <p:nvPr/>
        </p:nvGrpSpPr>
        <p:grpSpPr>
          <a:xfrm rot="0">
            <a:off x="1293912" y="7153609"/>
            <a:ext cx="9137302" cy="653194"/>
            <a:chOff x="0" y="0"/>
            <a:chExt cx="12183069" cy="870925"/>
          </a:xfrm>
        </p:grpSpPr>
        <p:sp>
          <p:nvSpPr>
            <p:cNvPr name="Freeform 25" id="25"/>
            <p:cNvSpPr/>
            <p:nvPr/>
          </p:nvSpPr>
          <p:spPr>
            <a:xfrm flipH="false" flipV="false" rot="0">
              <a:off x="0" y="0"/>
              <a:ext cx="12183070" cy="870925"/>
            </a:xfrm>
            <a:custGeom>
              <a:avLst/>
              <a:gdLst/>
              <a:ahLst/>
              <a:cxnLst/>
              <a:rect r="r" b="b" t="t" l="l"/>
              <a:pathLst>
                <a:path h="870925" w="12183070">
                  <a:moveTo>
                    <a:pt x="0" y="0"/>
                  </a:moveTo>
                  <a:lnTo>
                    <a:pt x="12183070" y="0"/>
                  </a:lnTo>
                  <a:lnTo>
                    <a:pt x="12183070" y="870925"/>
                  </a:lnTo>
                  <a:lnTo>
                    <a:pt x="0" y="870925"/>
                  </a:lnTo>
                  <a:close/>
                </a:path>
              </a:pathLst>
            </a:custGeom>
            <a:solidFill>
              <a:srgbClr val="000000">
                <a:alpha val="0"/>
              </a:srgbClr>
            </a:solidFill>
          </p:spPr>
        </p:sp>
        <p:sp>
          <p:nvSpPr>
            <p:cNvPr name="TextBox 26" id="26"/>
            <p:cNvSpPr txBox="true"/>
            <p:nvPr/>
          </p:nvSpPr>
          <p:spPr>
            <a:xfrm>
              <a:off x="0" y="-114300"/>
              <a:ext cx="12183069" cy="985225"/>
            </a:xfrm>
            <a:prstGeom prst="rect">
              <a:avLst/>
            </a:prstGeom>
          </p:spPr>
          <p:txBody>
            <a:bodyPr anchor="t" rtlCol="false" tIns="0" lIns="0" bIns="0" rIns="0"/>
            <a:lstStyle/>
            <a:p>
              <a:pPr algn="l" marL="588169" indent="-196056" lvl="2">
                <a:lnSpc>
                  <a:spcPts val="4888"/>
                </a:lnSpc>
                <a:buFont typeface="Arial"/>
                <a:buChar char="⚬"/>
              </a:pPr>
              <a:r>
                <a:rPr lang="en-US" sz="3000">
                  <a:solidFill>
                    <a:srgbClr val="00002E"/>
                  </a:solidFill>
                  <a:latin typeface="PT Sans"/>
                  <a:ea typeface="PT Sans"/>
                  <a:cs typeface="PT Sans"/>
                  <a:sym typeface="PT Sans"/>
                </a:rPr>
                <a:t>Save data to SD card. </a:t>
              </a:r>
            </a:p>
          </p:txBody>
        </p:sp>
      </p:grpSp>
      <p:grpSp>
        <p:nvGrpSpPr>
          <p:cNvPr name="Group 27" id="27"/>
          <p:cNvGrpSpPr/>
          <p:nvPr/>
        </p:nvGrpSpPr>
        <p:grpSpPr>
          <a:xfrm rot="0">
            <a:off x="1293912" y="7967948"/>
            <a:ext cx="9137302" cy="653194"/>
            <a:chOff x="0" y="0"/>
            <a:chExt cx="12183069" cy="870925"/>
          </a:xfrm>
        </p:grpSpPr>
        <p:sp>
          <p:nvSpPr>
            <p:cNvPr name="Freeform 28" id="28"/>
            <p:cNvSpPr/>
            <p:nvPr/>
          </p:nvSpPr>
          <p:spPr>
            <a:xfrm flipH="false" flipV="false" rot="0">
              <a:off x="0" y="0"/>
              <a:ext cx="12183070" cy="870925"/>
            </a:xfrm>
            <a:custGeom>
              <a:avLst/>
              <a:gdLst/>
              <a:ahLst/>
              <a:cxnLst/>
              <a:rect r="r" b="b" t="t" l="l"/>
              <a:pathLst>
                <a:path h="870925" w="12183070">
                  <a:moveTo>
                    <a:pt x="0" y="0"/>
                  </a:moveTo>
                  <a:lnTo>
                    <a:pt x="12183070" y="0"/>
                  </a:lnTo>
                  <a:lnTo>
                    <a:pt x="12183070" y="870925"/>
                  </a:lnTo>
                  <a:lnTo>
                    <a:pt x="0" y="870925"/>
                  </a:lnTo>
                  <a:close/>
                </a:path>
              </a:pathLst>
            </a:custGeom>
            <a:solidFill>
              <a:srgbClr val="000000">
                <a:alpha val="0"/>
              </a:srgbClr>
            </a:solidFill>
          </p:spPr>
        </p:sp>
        <p:sp>
          <p:nvSpPr>
            <p:cNvPr name="TextBox 29" id="29"/>
            <p:cNvSpPr txBox="true"/>
            <p:nvPr/>
          </p:nvSpPr>
          <p:spPr>
            <a:xfrm>
              <a:off x="0" y="-114300"/>
              <a:ext cx="12183069" cy="985225"/>
            </a:xfrm>
            <a:prstGeom prst="rect">
              <a:avLst/>
            </a:prstGeom>
          </p:spPr>
          <p:txBody>
            <a:bodyPr anchor="t" rtlCol="false" tIns="0" lIns="0" bIns="0" rIns="0"/>
            <a:lstStyle/>
            <a:p>
              <a:pPr algn="l" marL="588169" indent="-196056" lvl="2">
                <a:lnSpc>
                  <a:spcPts val="4888"/>
                </a:lnSpc>
                <a:buFont typeface="Arial"/>
                <a:buChar char="⚬"/>
              </a:pPr>
              <a:r>
                <a:rPr lang="en-US" sz="3000">
                  <a:solidFill>
                    <a:srgbClr val="00002E"/>
                  </a:solidFill>
                  <a:latin typeface="PT Sans"/>
                  <a:ea typeface="PT Sans"/>
                  <a:cs typeface="PT Sans"/>
                  <a:sym typeface="PT Sans"/>
                </a:rPr>
                <a:t>If temperature &gt; threshold: Activate cooling system. </a:t>
              </a:r>
            </a:p>
          </p:txBody>
        </p:sp>
      </p:grpSp>
      <p:grpSp>
        <p:nvGrpSpPr>
          <p:cNvPr name="Group 30" id="30"/>
          <p:cNvGrpSpPr/>
          <p:nvPr/>
        </p:nvGrpSpPr>
        <p:grpSpPr>
          <a:xfrm rot="0">
            <a:off x="1293912" y="8849742"/>
            <a:ext cx="9137302" cy="653194"/>
            <a:chOff x="0" y="0"/>
            <a:chExt cx="12183069" cy="870925"/>
          </a:xfrm>
        </p:grpSpPr>
        <p:sp>
          <p:nvSpPr>
            <p:cNvPr name="Freeform 31" id="31"/>
            <p:cNvSpPr/>
            <p:nvPr/>
          </p:nvSpPr>
          <p:spPr>
            <a:xfrm flipH="false" flipV="false" rot="0">
              <a:off x="0" y="0"/>
              <a:ext cx="12183070" cy="870925"/>
            </a:xfrm>
            <a:custGeom>
              <a:avLst/>
              <a:gdLst/>
              <a:ahLst/>
              <a:cxnLst/>
              <a:rect r="r" b="b" t="t" l="l"/>
              <a:pathLst>
                <a:path h="870925" w="12183070">
                  <a:moveTo>
                    <a:pt x="0" y="0"/>
                  </a:moveTo>
                  <a:lnTo>
                    <a:pt x="12183070" y="0"/>
                  </a:lnTo>
                  <a:lnTo>
                    <a:pt x="12183070" y="870925"/>
                  </a:lnTo>
                  <a:lnTo>
                    <a:pt x="0" y="870925"/>
                  </a:lnTo>
                  <a:close/>
                </a:path>
              </a:pathLst>
            </a:custGeom>
            <a:solidFill>
              <a:srgbClr val="000000">
                <a:alpha val="0"/>
              </a:srgbClr>
            </a:solidFill>
          </p:spPr>
        </p:sp>
        <p:sp>
          <p:nvSpPr>
            <p:cNvPr name="TextBox 32" id="32"/>
            <p:cNvSpPr txBox="true"/>
            <p:nvPr/>
          </p:nvSpPr>
          <p:spPr>
            <a:xfrm>
              <a:off x="0" y="-114300"/>
              <a:ext cx="12183069" cy="985225"/>
            </a:xfrm>
            <a:prstGeom prst="rect">
              <a:avLst/>
            </a:prstGeom>
          </p:spPr>
          <p:txBody>
            <a:bodyPr anchor="t" rtlCol="false" tIns="0" lIns="0" bIns="0" rIns="0"/>
            <a:lstStyle/>
            <a:p>
              <a:pPr algn="l" marL="588169" indent="-196056" lvl="2">
                <a:lnSpc>
                  <a:spcPts val="4888"/>
                </a:lnSpc>
                <a:buFont typeface="Arial"/>
                <a:buChar char="⚬"/>
              </a:pPr>
              <a:r>
                <a:rPr lang="en-US" sz="3000">
                  <a:solidFill>
                    <a:srgbClr val="00002E"/>
                  </a:solidFill>
                  <a:latin typeface="PT Sans"/>
                  <a:ea typeface="PT Sans"/>
                  <a:cs typeface="PT Sans"/>
                  <a:sym typeface="PT Sans"/>
                </a:rPr>
                <a:t>If light &lt; threshold: Active Grow Lights</a:t>
              </a:r>
            </a:p>
          </p:txBody>
        </p:sp>
      </p:grpSp>
      <p:grpSp>
        <p:nvGrpSpPr>
          <p:cNvPr name="Group 33" id="33"/>
          <p:cNvGrpSpPr/>
          <p:nvPr/>
        </p:nvGrpSpPr>
        <p:grpSpPr>
          <a:xfrm rot="0">
            <a:off x="11791777" y="1208188"/>
            <a:ext cx="5467523" cy="8448378"/>
            <a:chOff x="0" y="0"/>
            <a:chExt cx="7290031" cy="11264504"/>
          </a:xfrm>
        </p:grpSpPr>
        <p:sp>
          <p:nvSpPr>
            <p:cNvPr name="Freeform 34" id="34" descr="preencoded.png"/>
            <p:cNvSpPr/>
            <p:nvPr/>
          </p:nvSpPr>
          <p:spPr>
            <a:xfrm flipH="false" flipV="false" rot="0">
              <a:off x="0" y="0"/>
              <a:ext cx="7290054" cy="11264519"/>
            </a:xfrm>
            <a:custGeom>
              <a:avLst/>
              <a:gdLst/>
              <a:ahLst/>
              <a:cxnLst/>
              <a:rect r="r" b="b" t="t" l="l"/>
              <a:pathLst>
                <a:path h="11264519" w="7290054">
                  <a:moveTo>
                    <a:pt x="0" y="0"/>
                  </a:moveTo>
                  <a:lnTo>
                    <a:pt x="7290054" y="0"/>
                  </a:lnTo>
                  <a:lnTo>
                    <a:pt x="7290054" y="11264519"/>
                  </a:lnTo>
                  <a:lnTo>
                    <a:pt x="0" y="11264519"/>
                  </a:lnTo>
                  <a:lnTo>
                    <a:pt x="0" y="0"/>
                  </a:lnTo>
                  <a:close/>
                </a:path>
              </a:pathLst>
            </a:custGeom>
            <a:blipFill>
              <a:blip r:embed="rId4"/>
              <a:stretch>
                <a:fillRect l="-20" t="0" r="-19"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3F3FF">
                <a:alpha val="31373"/>
              </a:srgbClr>
            </a:solidFill>
          </p:spPr>
        </p:sp>
      </p:grpSp>
      <p:grpSp>
        <p:nvGrpSpPr>
          <p:cNvPr name="Group 6" id="6"/>
          <p:cNvGrpSpPr/>
          <p:nvPr/>
        </p:nvGrpSpPr>
        <p:grpSpPr>
          <a:xfrm rot="0">
            <a:off x="876746" y="670348"/>
            <a:ext cx="10416002" cy="1484780"/>
            <a:chOff x="0" y="0"/>
            <a:chExt cx="13888003" cy="1979706"/>
          </a:xfrm>
        </p:grpSpPr>
        <p:sp>
          <p:nvSpPr>
            <p:cNvPr name="Freeform 7" id="7"/>
            <p:cNvSpPr/>
            <p:nvPr/>
          </p:nvSpPr>
          <p:spPr>
            <a:xfrm flipH="false" flipV="false" rot="0">
              <a:off x="0" y="0"/>
              <a:ext cx="13888003" cy="1979706"/>
            </a:xfrm>
            <a:custGeom>
              <a:avLst/>
              <a:gdLst/>
              <a:ahLst/>
              <a:cxnLst/>
              <a:rect r="r" b="b" t="t" l="l"/>
              <a:pathLst>
                <a:path h="1979706" w="13888003">
                  <a:moveTo>
                    <a:pt x="0" y="0"/>
                  </a:moveTo>
                  <a:lnTo>
                    <a:pt x="13888003" y="0"/>
                  </a:lnTo>
                  <a:lnTo>
                    <a:pt x="13888003" y="1979706"/>
                  </a:lnTo>
                  <a:lnTo>
                    <a:pt x="0" y="1979706"/>
                  </a:lnTo>
                  <a:close/>
                </a:path>
              </a:pathLst>
            </a:custGeom>
            <a:solidFill>
              <a:srgbClr val="000000">
                <a:alpha val="0"/>
              </a:srgbClr>
            </a:solidFill>
          </p:spPr>
        </p:sp>
        <p:sp>
          <p:nvSpPr>
            <p:cNvPr name="TextBox 8" id="8"/>
            <p:cNvSpPr txBox="true"/>
            <p:nvPr/>
          </p:nvSpPr>
          <p:spPr>
            <a:xfrm>
              <a:off x="0" y="-28575"/>
              <a:ext cx="13888003" cy="2008281"/>
            </a:xfrm>
            <a:prstGeom prst="rect">
              <a:avLst/>
            </a:prstGeom>
          </p:spPr>
          <p:txBody>
            <a:bodyPr anchor="t" rtlCol="false" tIns="0" lIns="0" bIns="0" rIns="0"/>
            <a:lstStyle/>
            <a:p>
              <a:pPr algn="l">
                <a:lnSpc>
                  <a:spcPts val="6836"/>
                </a:lnSpc>
              </a:pPr>
              <a:r>
                <a:rPr lang="en-US" sz="5498" b="true">
                  <a:solidFill>
                    <a:srgbClr val="00002E"/>
                  </a:solidFill>
                  <a:latin typeface="Nunito Bold"/>
                  <a:ea typeface="Nunito Bold"/>
                  <a:cs typeface="Nunito Bold"/>
                  <a:sym typeface="Nunito Bold"/>
                </a:rPr>
                <a:t>Circuit Diagram</a:t>
              </a:r>
            </a:p>
          </p:txBody>
        </p:sp>
      </p:grpSp>
      <p:grpSp>
        <p:nvGrpSpPr>
          <p:cNvPr name="Group 9" id="9"/>
          <p:cNvGrpSpPr/>
          <p:nvPr/>
        </p:nvGrpSpPr>
        <p:grpSpPr>
          <a:xfrm rot="0">
            <a:off x="3225552" y="1926580"/>
            <a:ext cx="11836748" cy="7671941"/>
            <a:chOff x="0" y="0"/>
            <a:chExt cx="15782331" cy="10229255"/>
          </a:xfrm>
        </p:grpSpPr>
        <p:sp>
          <p:nvSpPr>
            <p:cNvPr name="Freeform 10" id="10" descr="preencoded.png"/>
            <p:cNvSpPr/>
            <p:nvPr/>
          </p:nvSpPr>
          <p:spPr>
            <a:xfrm flipH="false" flipV="false" rot="0">
              <a:off x="0" y="0"/>
              <a:ext cx="15782289" cy="10229215"/>
            </a:xfrm>
            <a:custGeom>
              <a:avLst/>
              <a:gdLst/>
              <a:ahLst/>
              <a:cxnLst/>
              <a:rect r="r" b="b" t="t" l="l"/>
              <a:pathLst>
                <a:path h="10229215" w="15782289">
                  <a:moveTo>
                    <a:pt x="0" y="0"/>
                  </a:moveTo>
                  <a:lnTo>
                    <a:pt x="15782289" y="0"/>
                  </a:lnTo>
                  <a:lnTo>
                    <a:pt x="15782289" y="10229215"/>
                  </a:lnTo>
                  <a:lnTo>
                    <a:pt x="0" y="10229215"/>
                  </a:lnTo>
                  <a:lnTo>
                    <a:pt x="0" y="0"/>
                  </a:lnTo>
                  <a:close/>
                </a:path>
              </a:pathLst>
            </a:custGeom>
            <a:blipFill>
              <a:blip r:embed="rId4"/>
              <a:stretch>
                <a:fillRect l="-40" t="0" r="-40"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3F3FF">
                <a:alpha val="31373"/>
              </a:srgbClr>
            </a:solidFill>
          </p:spPr>
        </p:sp>
      </p:grpSp>
      <p:grpSp>
        <p:nvGrpSpPr>
          <p:cNvPr name="Group 6" id="6"/>
          <p:cNvGrpSpPr/>
          <p:nvPr/>
        </p:nvGrpSpPr>
        <p:grpSpPr>
          <a:xfrm rot="0">
            <a:off x="1032867" y="1007269"/>
            <a:ext cx="7040612" cy="901452"/>
            <a:chOff x="0" y="0"/>
            <a:chExt cx="9387483" cy="1201936"/>
          </a:xfrm>
        </p:grpSpPr>
        <p:sp>
          <p:nvSpPr>
            <p:cNvPr name="Freeform 7" id="7"/>
            <p:cNvSpPr/>
            <p:nvPr/>
          </p:nvSpPr>
          <p:spPr>
            <a:xfrm flipH="false" flipV="false" rot="0">
              <a:off x="0" y="0"/>
              <a:ext cx="9387483" cy="1201936"/>
            </a:xfrm>
            <a:custGeom>
              <a:avLst/>
              <a:gdLst/>
              <a:ahLst/>
              <a:cxnLst/>
              <a:rect r="r" b="b" t="t" l="l"/>
              <a:pathLst>
                <a:path h="1201936" w="9387483">
                  <a:moveTo>
                    <a:pt x="0" y="0"/>
                  </a:moveTo>
                  <a:lnTo>
                    <a:pt x="9387483" y="0"/>
                  </a:lnTo>
                  <a:lnTo>
                    <a:pt x="9387483" y="1201936"/>
                  </a:lnTo>
                  <a:lnTo>
                    <a:pt x="0" y="1201936"/>
                  </a:lnTo>
                  <a:close/>
                </a:path>
              </a:pathLst>
            </a:custGeom>
            <a:solidFill>
              <a:srgbClr val="000000">
                <a:alpha val="0"/>
              </a:srgbClr>
            </a:solidFill>
          </p:spPr>
        </p:sp>
        <p:sp>
          <p:nvSpPr>
            <p:cNvPr name="TextBox 8" id="8"/>
            <p:cNvSpPr txBox="true"/>
            <p:nvPr/>
          </p:nvSpPr>
          <p:spPr>
            <a:xfrm>
              <a:off x="0" y="-28575"/>
              <a:ext cx="9387483" cy="1230511"/>
            </a:xfrm>
            <a:prstGeom prst="rect">
              <a:avLst/>
            </a:prstGeom>
          </p:spPr>
          <p:txBody>
            <a:bodyPr anchor="t" rtlCol="false" tIns="0" lIns="0" bIns="0" rIns="0"/>
            <a:lstStyle/>
            <a:p>
              <a:pPr algn="l">
                <a:lnSpc>
                  <a:spcPts val="6875"/>
                </a:lnSpc>
              </a:pPr>
              <a:r>
                <a:rPr lang="en-US" sz="5500" b="true">
                  <a:solidFill>
                    <a:srgbClr val="00002E"/>
                  </a:solidFill>
                  <a:latin typeface="Nunito Bold"/>
                  <a:ea typeface="Nunito Bold"/>
                  <a:cs typeface="Nunito Bold"/>
                  <a:sym typeface="Nunito Bold"/>
                </a:rPr>
                <a:t>Implementation</a:t>
              </a:r>
            </a:p>
          </p:txBody>
        </p:sp>
      </p:grpSp>
      <p:sp>
        <p:nvSpPr>
          <p:cNvPr name="Freeform 9" id="9"/>
          <p:cNvSpPr/>
          <p:nvPr/>
        </p:nvSpPr>
        <p:spPr>
          <a:xfrm flipH="false" flipV="false" rot="0">
            <a:off x="1032867" y="2936081"/>
            <a:ext cx="7975854" cy="5893308"/>
          </a:xfrm>
          <a:custGeom>
            <a:avLst/>
            <a:gdLst/>
            <a:ahLst/>
            <a:cxnLst/>
            <a:rect r="r" b="b" t="t" l="l"/>
            <a:pathLst>
              <a:path h="5893308" w="7975854">
                <a:moveTo>
                  <a:pt x="0" y="0"/>
                </a:moveTo>
                <a:lnTo>
                  <a:pt x="7975854" y="0"/>
                </a:lnTo>
                <a:lnTo>
                  <a:pt x="7975854" y="5893308"/>
                </a:lnTo>
                <a:lnTo>
                  <a:pt x="0" y="58933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374874" y="3263802"/>
            <a:ext cx="4224338" cy="689864"/>
            <a:chOff x="0" y="0"/>
            <a:chExt cx="5632451" cy="919819"/>
          </a:xfrm>
        </p:grpSpPr>
        <p:sp>
          <p:nvSpPr>
            <p:cNvPr name="Freeform 11" id="11"/>
            <p:cNvSpPr/>
            <p:nvPr/>
          </p:nvSpPr>
          <p:spPr>
            <a:xfrm flipH="false" flipV="false" rot="0">
              <a:off x="0" y="0"/>
              <a:ext cx="5632451" cy="919819"/>
            </a:xfrm>
            <a:custGeom>
              <a:avLst/>
              <a:gdLst/>
              <a:ahLst/>
              <a:cxnLst/>
              <a:rect r="r" b="b" t="t" l="l"/>
              <a:pathLst>
                <a:path h="919819" w="5632451">
                  <a:moveTo>
                    <a:pt x="0" y="0"/>
                  </a:moveTo>
                  <a:lnTo>
                    <a:pt x="5632451" y="0"/>
                  </a:lnTo>
                  <a:lnTo>
                    <a:pt x="5632451" y="919819"/>
                  </a:lnTo>
                  <a:lnTo>
                    <a:pt x="0" y="919819"/>
                  </a:lnTo>
                  <a:close/>
                </a:path>
              </a:pathLst>
            </a:custGeom>
            <a:solidFill>
              <a:srgbClr val="000000">
                <a:alpha val="0"/>
              </a:srgbClr>
            </a:solidFill>
          </p:spPr>
        </p:sp>
        <p:sp>
          <p:nvSpPr>
            <p:cNvPr name="TextBox 12" id="12"/>
            <p:cNvSpPr txBox="true"/>
            <p:nvPr/>
          </p:nvSpPr>
          <p:spPr>
            <a:xfrm>
              <a:off x="0" y="-19050"/>
              <a:ext cx="5632451" cy="938869"/>
            </a:xfrm>
            <a:prstGeom prst="rect">
              <a:avLst/>
            </a:prstGeom>
          </p:spPr>
          <p:txBody>
            <a:bodyPr anchor="t" rtlCol="false" tIns="0" lIns="0" bIns="0" rIns="0"/>
            <a:lstStyle/>
            <a:p>
              <a:pPr algn="l">
                <a:lnSpc>
                  <a:spcPts val="4109"/>
                </a:lnSpc>
              </a:pPr>
              <a:r>
                <a:rPr lang="en-US" sz="3300" b="true">
                  <a:solidFill>
                    <a:srgbClr val="00002E"/>
                  </a:solidFill>
                  <a:latin typeface="Nunito Bold"/>
                  <a:ea typeface="Nunito Bold"/>
                  <a:cs typeface="Nunito Bold"/>
                  <a:sym typeface="Nunito Bold"/>
                </a:rPr>
                <a:t>Simulation Setup:</a:t>
              </a:r>
            </a:p>
          </p:txBody>
        </p:sp>
      </p:grpSp>
      <p:grpSp>
        <p:nvGrpSpPr>
          <p:cNvPr name="Group 13" id="13"/>
          <p:cNvGrpSpPr/>
          <p:nvPr/>
        </p:nvGrpSpPr>
        <p:grpSpPr>
          <a:xfrm rot="0">
            <a:off x="1374874" y="3899744"/>
            <a:ext cx="7291834" cy="684014"/>
            <a:chOff x="0" y="0"/>
            <a:chExt cx="9722445" cy="912019"/>
          </a:xfrm>
        </p:grpSpPr>
        <p:sp>
          <p:nvSpPr>
            <p:cNvPr name="Freeform 14" id="14"/>
            <p:cNvSpPr/>
            <p:nvPr/>
          </p:nvSpPr>
          <p:spPr>
            <a:xfrm flipH="false" flipV="false" rot="0">
              <a:off x="0" y="0"/>
              <a:ext cx="9722445" cy="912019"/>
            </a:xfrm>
            <a:custGeom>
              <a:avLst/>
              <a:gdLst/>
              <a:ahLst/>
              <a:cxnLst/>
              <a:rect r="r" b="b" t="t" l="l"/>
              <a:pathLst>
                <a:path h="912019" w="9722445">
                  <a:moveTo>
                    <a:pt x="0" y="0"/>
                  </a:moveTo>
                  <a:lnTo>
                    <a:pt x="9722445" y="0"/>
                  </a:lnTo>
                  <a:lnTo>
                    <a:pt x="9722445" y="912019"/>
                  </a:lnTo>
                  <a:lnTo>
                    <a:pt x="0" y="912019"/>
                  </a:lnTo>
                  <a:close/>
                </a:path>
              </a:pathLst>
            </a:custGeom>
            <a:solidFill>
              <a:srgbClr val="000000">
                <a:alpha val="0"/>
              </a:srgbClr>
            </a:solidFill>
          </p:spPr>
        </p:sp>
        <p:sp>
          <p:nvSpPr>
            <p:cNvPr name="TextBox 15" id="15"/>
            <p:cNvSpPr txBox="true"/>
            <p:nvPr/>
          </p:nvSpPr>
          <p:spPr>
            <a:xfrm>
              <a:off x="0" y="-114300"/>
              <a:ext cx="9722445" cy="1026319"/>
            </a:xfrm>
            <a:prstGeom prst="rect">
              <a:avLst/>
            </a:prstGeom>
          </p:spPr>
          <p:txBody>
            <a:bodyPr anchor="t" rtlCol="false" tIns="0" lIns="0" bIns="0" rIns="0"/>
            <a:lstStyle/>
            <a:p>
              <a:pPr algn="l" marL="588169" indent="-196056" lvl="2">
                <a:lnSpc>
                  <a:spcPts val="4864"/>
                </a:lnSpc>
                <a:buFont typeface="Arial"/>
                <a:buChar char="⚬"/>
              </a:pPr>
              <a:r>
                <a:rPr lang="en-US" sz="3000">
                  <a:solidFill>
                    <a:srgbClr val="00002E"/>
                  </a:solidFill>
                  <a:latin typeface="PT Sans"/>
                  <a:ea typeface="PT Sans"/>
                  <a:cs typeface="PT Sans"/>
                  <a:sym typeface="PT Sans"/>
                </a:rPr>
                <a:t>Tools: Proteus + Arduino IDE.</a:t>
              </a:r>
            </a:p>
          </p:txBody>
        </p:sp>
      </p:grpSp>
      <p:grpSp>
        <p:nvGrpSpPr>
          <p:cNvPr name="Group 16" id="16"/>
          <p:cNvGrpSpPr/>
          <p:nvPr/>
        </p:nvGrpSpPr>
        <p:grpSpPr>
          <a:xfrm rot="0">
            <a:off x="1374874" y="4602659"/>
            <a:ext cx="7291834" cy="1282304"/>
            <a:chOff x="0" y="0"/>
            <a:chExt cx="9722445" cy="1709739"/>
          </a:xfrm>
        </p:grpSpPr>
        <p:sp>
          <p:nvSpPr>
            <p:cNvPr name="Freeform 17" id="17"/>
            <p:cNvSpPr/>
            <p:nvPr/>
          </p:nvSpPr>
          <p:spPr>
            <a:xfrm flipH="false" flipV="false" rot="0">
              <a:off x="0" y="0"/>
              <a:ext cx="9722445" cy="1709739"/>
            </a:xfrm>
            <a:custGeom>
              <a:avLst/>
              <a:gdLst/>
              <a:ahLst/>
              <a:cxnLst/>
              <a:rect r="r" b="b" t="t" l="l"/>
              <a:pathLst>
                <a:path h="1709739" w="9722445">
                  <a:moveTo>
                    <a:pt x="0" y="0"/>
                  </a:moveTo>
                  <a:lnTo>
                    <a:pt x="9722445" y="0"/>
                  </a:lnTo>
                  <a:lnTo>
                    <a:pt x="9722445" y="1709739"/>
                  </a:lnTo>
                  <a:lnTo>
                    <a:pt x="0" y="1709739"/>
                  </a:lnTo>
                  <a:close/>
                </a:path>
              </a:pathLst>
            </a:custGeom>
            <a:solidFill>
              <a:srgbClr val="000000">
                <a:alpha val="0"/>
              </a:srgbClr>
            </a:solidFill>
          </p:spPr>
        </p:sp>
        <p:sp>
          <p:nvSpPr>
            <p:cNvPr name="TextBox 18" id="18"/>
            <p:cNvSpPr txBox="true"/>
            <p:nvPr/>
          </p:nvSpPr>
          <p:spPr>
            <a:xfrm>
              <a:off x="0" y="-114300"/>
              <a:ext cx="9722445" cy="1824039"/>
            </a:xfrm>
            <a:prstGeom prst="rect">
              <a:avLst/>
            </a:prstGeom>
          </p:spPr>
          <p:txBody>
            <a:bodyPr anchor="t" rtlCol="false" tIns="0" lIns="0" bIns="0" rIns="0"/>
            <a:lstStyle/>
            <a:p>
              <a:pPr algn="l" marL="588169" indent="-196056" lvl="2">
                <a:lnSpc>
                  <a:spcPts val="4864"/>
                </a:lnSpc>
                <a:buFont typeface="Arial"/>
                <a:buChar char="⚬"/>
              </a:pPr>
              <a:r>
                <a:rPr lang="en-US" sz="3000">
                  <a:solidFill>
                    <a:srgbClr val="00002E"/>
                  </a:solidFill>
                  <a:latin typeface="PT Sans"/>
                  <a:ea typeface="PT Sans"/>
                  <a:cs typeface="PT Sans"/>
                  <a:sym typeface="PT Sans"/>
                </a:rPr>
                <a:t>Code Structure: Modular functions for sensors, actuators, and thresholds.</a:t>
              </a:r>
            </a:p>
          </p:txBody>
        </p:sp>
      </p:grpSp>
      <p:grpSp>
        <p:nvGrpSpPr>
          <p:cNvPr name="Group 19" id="19"/>
          <p:cNvGrpSpPr/>
          <p:nvPr/>
        </p:nvGrpSpPr>
        <p:grpSpPr>
          <a:xfrm rot="0">
            <a:off x="1374874" y="5903862"/>
            <a:ext cx="7291834" cy="1282304"/>
            <a:chOff x="0" y="0"/>
            <a:chExt cx="9722445" cy="1709739"/>
          </a:xfrm>
        </p:grpSpPr>
        <p:sp>
          <p:nvSpPr>
            <p:cNvPr name="Freeform 20" id="20"/>
            <p:cNvSpPr/>
            <p:nvPr/>
          </p:nvSpPr>
          <p:spPr>
            <a:xfrm flipH="false" flipV="false" rot="0">
              <a:off x="0" y="0"/>
              <a:ext cx="9722445" cy="1709739"/>
            </a:xfrm>
            <a:custGeom>
              <a:avLst/>
              <a:gdLst/>
              <a:ahLst/>
              <a:cxnLst/>
              <a:rect r="r" b="b" t="t" l="l"/>
              <a:pathLst>
                <a:path h="1709739" w="9722445">
                  <a:moveTo>
                    <a:pt x="0" y="0"/>
                  </a:moveTo>
                  <a:lnTo>
                    <a:pt x="9722445" y="0"/>
                  </a:lnTo>
                  <a:lnTo>
                    <a:pt x="9722445" y="1709739"/>
                  </a:lnTo>
                  <a:lnTo>
                    <a:pt x="0" y="1709739"/>
                  </a:lnTo>
                  <a:close/>
                </a:path>
              </a:pathLst>
            </a:custGeom>
            <a:solidFill>
              <a:srgbClr val="000000">
                <a:alpha val="0"/>
              </a:srgbClr>
            </a:solidFill>
          </p:spPr>
        </p:sp>
        <p:sp>
          <p:nvSpPr>
            <p:cNvPr name="TextBox 21" id="21"/>
            <p:cNvSpPr txBox="true"/>
            <p:nvPr/>
          </p:nvSpPr>
          <p:spPr>
            <a:xfrm>
              <a:off x="0" y="-114300"/>
              <a:ext cx="9722445" cy="1824039"/>
            </a:xfrm>
            <a:prstGeom prst="rect">
              <a:avLst/>
            </a:prstGeom>
          </p:spPr>
          <p:txBody>
            <a:bodyPr anchor="t" rtlCol="false" tIns="0" lIns="0" bIns="0" rIns="0"/>
            <a:lstStyle/>
            <a:p>
              <a:pPr algn="l" marL="588169" indent="-196056" lvl="2">
                <a:lnSpc>
                  <a:spcPts val="4864"/>
                </a:lnSpc>
                <a:buFont typeface="Arial"/>
                <a:buChar char="⚬"/>
              </a:pPr>
              <a:r>
                <a:rPr lang="en-US" sz="3000">
                  <a:solidFill>
                    <a:srgbClr val="00002E"/>
                  </a:solidFill>
                  <a:latin typeface="PT Sans"/>
                  <a:ea typeface="PT Sans"/>
                  <a:cs typeface="PT Sans"/>
                  <a:sym typeface="PT Sans"/>
                </a:rPr>
                <a:t>Software: Arduino IDE, simulation platform, DHT library.</a:t>
              </a:r>
            </a:p>
          </p:txBody>
        </p:sp>
      </p:grpSp>
      <p:sp>
        <p:nvSpPr>
          <p:cNvPr name="Freeform 22" id="22"/>
          <p:cNvSpPr/>
          <p:nvPr/>
        </p:nvSpPr>
        <p:spPr>
          <a:xfrm flipH="false" flipV="false" rot="0">
            <a:off x="9279285" y="2936081"/>
            <a:ext cx="7975854" cy="5893308"/>
          </a:xfrm>
          <a:custGeom>
            <a:avLst/>
            <a:gdLst/>
            <a:ahLst/>
            <a:cxnLst/>
            <a:rect r="r" b="b" t="t" l="l"/>
            <a:pathLst>
              <a:path h="5893308" w="7975854">
                <a:moveTo>
                  <a:pt x="0" y="0"/>
                </a:moveTo>
                <a:lnTo>
                  <a:pt x="7975854" y="0"/>
                </a:lnTo>
                <a:lnTo>
                  <a:pt x="7975854" y="5893308"/>
                </a:lnTo>
                <a:lnTo>
                  <a:pt x="0" y="58933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3" id="23"/>
          <p:cNvGrpSpPr/>
          <p:nvPr/>
        </p:nvGrpSpPr>
        <p:grpSpPr>
          <a:xfrm rot="0">
            <a:off x="9621291" y="3263802"/>
            <a:ext cx="5882224" cy="689864"/>
            <a:chOff x="0" y="0"/>
            <a:chExt cx="7842965" cy="919819"/>
          </a:xfrm>
        </p:grpSpPr>
        <p:sp>
          <p:nvSpPr>
            <p:cNvPr name="Freeform 24" id="24"/>
            <p:cNvSpPr/>
            <p:nvPr/>
          </p:nvSpPr>
          <p:spPr>
            <a:xfrm flipH="false" flipV="false" rot="0">
              <a:off x="0" y="0"/>
              <a:ext cx="7842965" cy="919819"/>
            </a:xfrm>
            <a:custGeom>
              <a:avLst/>
              <a:gdLst/>
              <a:ahLst/>
              <a:cxnLst/>
              <a:rect r="r" b="b" t="t" l="l"/>
              <a:pathLst>
                <a:path h="919819" w="7842965">
                  <a:moveTo>
                    <a:pt x="0" y="0"/>
                  </a:moveTo>
                  <a:lnTo>
                    <a:pt x="7842965" y="0"/>
                  </a:lnTo>
                  <a:lnTo>
                    <a:pt x="7842965" y="919819"/>
                  </a:lnTo>
                  <a:lnTo>
                    <a:pt x="0" y="919819"/>
                  </a:lnTo>
                  <a:close/>
                </a:path>
              </a:pathLst>
            </a:custGeom>
            <a:solidFill>
              <a:srgbClr val="000000">
                <a:alpha val="0"/>
              </a:srgbClr>
            </a:solidFill>
          </p:spPr>
        </p:sp>
        <p:sp>
          <p:nvSpPr>
            <p:cNvPr name="TextBox 25" id="25"/>
            <p:cNvSpPr txBox="true"/>
            <p:nvPr/>
          </p:nvSpPr>
          <p:spPr>
            <a:xfrm>
              <a:off x="0" y="-19050"/>
              <a:ext cx="7842965" cy="938869"/>
            </a:xfrm>
            <a:prstGeom prst="rect">
              <a:avLst/>
            </a:prstGeom>
          </p:spPr>
          <p:txBody>
            <a:bodyPr anchor="t" rtlCol="false" tIns="0" lIns="0" bIns="0" rIns="0"/>
            <a:lstStyle/>
            <a:p>
              <a:pPr algn="l">
                <a:lnSpc>
                  <a:spcPts val="4109"/>
                </a:lnSpc>
              </a:pPr>
              <a:r>
                <a:rPr lang="en-US" sz="3300" b="true">
                  <a:solidFill>
                    <a:srgbClr val="00002E"/>
                  </a:solidFill>
                  <a:latin typeface="Nunito Bold"/>
                  <a:ea typeface="Nunito Bold"/>
                  <a:cs typeface="Nunito Bold"/>
                  <a:sym typeface="Nunito Bold"/>
                </a:rPr>
                <a:t>Hardware Components:</a:t>
              </a:r>
            </a:p>
          </p:txBody>
        </p:sp>
      </p:grpSp>
      <p:grpSp>
        <p:nvGrpSpPr>
          <p:cNvPr name="Group 26" id="26"/>
          <p:cNvGrpSpPr/>
          <p:nvPr/>
        </p:nvGrpSpPr>
        <p:grpSpPr>
          <a:xfrm rot="0">
            <a:off x="9621291" y="3899744"/>
            <a:ext cx="7291834" cy="1865822"/>
            <a:chOff x="0" y="0"/>
            <a:chExt cx="9722445" cy="2487763"/>
          </a:xfrm>
        </p:grpSpPr>
        <p:sp>
          <p:nvSpPr>
            <p:cNvPr name="Freeform 27" id="27"/>
            <p:cNvSpPr/>
            <p:nvPr/>
          </p:nvSpPr>
          <p:spPr>
            <a:xfrm flipH="false" flipV="false" rot="0">
              <a:off x="0" y="0"/>
              <a:ext cx="9722445" cy="2487763"/>
            </a:xfrm>
            <a:custGeom>
              <a:avLst/>
              <a:gdLst/>
              <a:ahLst/>
              <a:cxnLst/>
              <a:rect r="r" b="b" t="t" l="l"/>
              <a:pathLst>
                <a:path h="2487763" w="9722445">
                  <a:moveTo>
                    <a:pt x="0" y="0"/>
                  </a:moveTo>
                  <a:lnTo>
                    <a:pt x="9722445" y="0"/>
                  </a:lnTo>
                  <a:lnTo>
                    <a:pt x="9722445" y="2487763"/>
                  </a:lnTo>
                  <a:lnTo>
                    <a:pt x="0" y="2487763"/>
                  </a:lnTo>
                  <a:close/>
                </a:path>
              </a:pathLst>
            </a:custGeom>
            <a:solidFill>
              <a:srgbClr val="000000">
                <a:alpha val="0"/>
              </a:srgbClr>
            </a:solidFill>
          </p:spPr>
        </p:sp>
        <p:sp>
          <p:nvSpPr>
            <p:cNvPr name="TextBox 28" id="28"/>
            <p:cNvSpPr txBox="true"/>
            <p:nvPr/>
          </p:nvSpPr>
          <p:spPr>
            <a:xfrm>
              <a:off x="0" y="-114300"/>
              <a:ext cx="9722445" cy="2602063"/>
            </a:xfrm>
            <a:prstGeom prst="rect">
              <a:avLst/>
            </a:prstGeom>
          </p:spPr>
          <p:txBody>
            <a:bodyPr anchor="t" rtlCol="false" tIns="0" lIns="0" bIns="0" rIns="0"/>
            <a:lstStyle/>
            <a:p>
              <a:pPr algn="l" marL="588169" indent="-196056" lvl="2">
                <a:lnSpc>
                  <a:spcPts val="4864"/>
                </a:lnSpc>
                <a:buFont typeface="Arial"/>
                <a:buChar char="⚬"/>
              </a:pPr>
              <a:r>
                <a:rPr lang="en-US" sz="3000">
                  <a:solidFill>
                    <a:srgbClr val="00002E"/>
                  </a:solidFill>
                  <a:latin typeface="PT Sans"/>
                  <a:ea typeface="PT Sans"/>
                  <a:cs typeface="PT Sans"/>
                  <a:sym typeface="PT Sans"/>
                </a:rPr>
                <a:t>Sensors : Soil moisture sensors , DHT11 (Temperature &amp; Humidity) sensor,Light dependent resistor</a:t>
              </a:r>
            </a:p>
          </p:txBody>
        </p:sp>
      </p:grpSp>
      <p:grpSp>
        <p:nvGrpSpPr>
          <p:cNvPr name="Group 29" id="29"/>
          <p:cNvGrpSpPr/>
          <p:nvPr/>
        </p:nvGrpSpPr>
        <p:grpSpPr>
          <a:xfrm rot="0">
            <a:off x="9621291" y="5799236"/>
            <a:ext cx="7291834" cy="1282304"/>
            <a:chOff x="0" y="0"/>
            <a:chExt cx="9722445" cy="1709739"/>
          </a:xfrm>
        </p:grpSpPr>
        <p:sp>
          <p:nvSpPr>
            <p:cNvPr name="Freeform 30" id="30"/>
            <p:cNvSpPr/>
            <p:nvPr/>
          </p:nvSpPr>
          <p:spPr>
            <a:xfrm flipH="false" flipV="false" rot="0">
              <a:off x="0" y="0"/>
              <a:ext cx="9722445" cy="1709739"/>
            </a:xfrm>
            <a:custGeom>
              <a:avLst/>
              <a:gdLst/>
              <a:ahLst/>
              <a:cxnLst/>
              <a:rect r="r" b="b" t="t" l="l"/>
              <a:pathLst>
                <a:path h="1709739" w="9722445">
                  <a:moveTo>
                    <a:pt x="0" y="0"/>
                  </a:moveTo>
                  <a:lnTo>
                    <a:pt x="9722445" y="0"/>
                  </a:lnTo>
                  <a:lnTo>
                    <a:pt x="9722445" y="1709739"/>
                  </a:lnTo>
                  <a:lnTo>
                    <a:pt x="0" y="1709739"/>
                  </a:lnTo>
                  <a:close/>
                </a:path>
              </a:pathLst>
            </a:custGeom>
            <a:solidFill>
              <a:srgbClr val="000000">
                <a:alpha val="0"/>
              </a:srgbClr>
            </a:solidFill>
          </p:spPr>
        </p:sp>
        <p:sp>
          <p:nvSpPr>
            <p:cNvPr name="TextBox 31" id="31"/>
            <p:cNvSpPr txBox="true"/>
            <p:nvPr/>
          </p:nvSpPr>
          <p:spPr>
            <a:xfrm>
              <a:off x="0" y="-114300"/>
              <a:ext cx="9722445" cy="1824039"/>
            </a:xfrm>
            <a:prstGeom prst="rect">
              <a:avLst/>
            </a:prstGeom>
          </p:spPr>
          <p:txBody>
            <a:bodyPr anchor="t" rtlCol="false" tIns="0" lIns="0" bIns="0" rIns="0"/>
            <a:lstStyle/>
            <a:p>
              <a:pPr algn="l" marL="588169" indent="-196056" lvl="2">
                <a:lnSpc>
                  <a:spcPts val="4864"/>
                </a:lnSpc>
                <a:buFont typeface="Arial"/>
                <a:buChar char="⚬"/>
              </a:pPr>
              <a:r>
                <a:rPr lang="en-US" sz="3000">
                  <a:solidFill>
                    <a:srgbClr val="00002E"/>
                  </a:solidFill>
                  <a:latin typeface="PT Sans"/>
                  <a:ea typeface="PT Sans"/>
                  <a:cs typeface="PT Sans"/>
                  <a:sym typeface="PT Sans"/>
                </a:rPr>
                <a:t>Actuators: Relays for fans/pumps, LED grow lights.</a:t>
              </a:r>
            </a:p>
          </p:txBody>
        </p:sp>
      </p:grpSp>
      <p:grpSp>
        <p:nvGrpSpPr>
          <p:cNvPr name="Group 32" id="32"/>
          <p:cNvGrpSpPr/>
          <p:nvPr/>
        </p:nvGrpSpPr>
        <p:grpSpPr>
          <a:xfrm rot="0">
            <a:off x="9621291" y="7100441"/>
            <a:ext cx="7291834" cy="684014"/>
            <a:chOff x="0" y="0"/>
            <a:chExt cx="9722445" cy="912019"/>
          </a:xfrm>
        </p:grpSpPr>
        <p:sp>
          <p:nvSpPr>
            <p:cNvPr name="Freeform 33" id="33"/>
            <p:cNvSpPr/>
            <p:nvPr/>
          </p:nvSpPr>
          <p:spPr>
            <a:xfrm flipH="false" flipV="false" rot="0">
              <a:off x="0" y="0"/>
              <a:ext cx="9722445" cy="912019"/>
            </a:xfrm>
            <a:custGeom>
              <a:avLst/>
              <a:gdLst/>
              <a:ahLst/>
              <a:cxnLst/>
              <a:rect r="r" b="b" t="t" l="l"/>
              <a:pathLst>
                <a:path h="912019" w="9722445">
                  <a:moveTo>
                    <a:pt x="0" y="0"/>
                  </a:moveTo>
                  <a:lnTo>
                    <a:pt x="9722445" y="0"/>
                  </a:lnTo>
                  <a:lnTo>
                    <a:pt x="9722445" y="912019"/>
                  </a:lnTo>
                  <a:lnTo>
                    <a:pt x="0" y="912019"/>
                  </a:lnTo>
                  <a:close/>
                </a:path>
              </a:pathLst>
            </a:custGeom>
            <a:solidFill>
              <a:srgbClr val="000000">
                <a:alpha val="0"/>
              </a:srgbClr>
            </a:solidFill>
          </p:spPr>
        </p:sp>
        <p:sp>
          <p:nvSpPr>
            <p:cNvPr name="TextBox 34" id="34"/>
            <p:cNvSpPr txBox="true"/>
            <p:nvPr/>
          </p:nvSpPr>
          <p:spPr>
            <a:xfrm>
              <a:off x="0" y="-114300"/>
              <a:ext cx="9722445" cy="1026319"/>
            </a:xfrm>
            <a:prstGeom prst="rect">
              <a:avLst/>
            </a:prstGeom>
          </p:spPr>
          <p:txBody>
            <a:bodyPr anchor="t" rtlCol="false" tIns="0" lIns="0" bIns="0" rIns="0"/>
            <a:lstStyle/>
            <a:p>
              <a:pPr algn="l" marL="588169" indent="-196056" lvl="2">
                <a:lnSpc>
                  <a:spcPts val="4864"/>
                </a:lnSpc>
                <a:buFont typeface="Arial"/>
                <a:buChar char="⚬"/>
              </a:pPr>
              <a:r>
                <a:rPr lang="en-US" sz="3000">
                  <a:solidFill>
                    <a:srgbClr val="00002E"/>
                  </a:solidFill>
                  <a:latin typeface="PT Sans"/>
                  <a:ea typeface="PT Sans"/>
                  <a:cs typeface="PT Sans"/>
                  <a:sym typeface="PT Sans"/>
                </a:rPr>
                <a:t>Arduino UNO</a:t>
              </a:r>
            </a:p>
          </p:txBody>
        </p:sp>
      </p:grpSp>
      <p:grpSp>
        <p:nvGrpSpPr>
          <p:cNvPr name="Group 35" id="35"/>
          <p:cNvGrpSpPr/>
          <p:nvPr/>
        </p:nvGrpSpPr>
        <p:grpSpPr>
          <a:xfrm rot="0">
            <a:off x="9621291" y="7803356"/>
            <a:ext cx="7291834" cy="684014"/>
            <a:chOff x="0" y="0"/>
            <a:chExt cx="9722445" cy="912019"/>
          </a:xfrm>
        </p:grpSpPr>
        <p:sp>
          <p:nvSpPr>
            <p:cNvPr name="Freeform 36" id="36"/>
            <p:cNvSpPr/>
            <p:nvPr/>
          </p:nvSpPr>
          <p:spPr>
            <a:xfrm flipH="false" flipV="false" rot="0">
              <a:off x="0" y="0"/>
              <a:ext cx="9722445" cy="912019"/>
            </a:xfrm>
            <a:custGeom>
              <a:avLst/>
              <a:gdLst/>
              <a:ahLst/>
              <a:cxnLst/>
              <a:rect r="r" b="b" t="t" l="l"/>
              <a:pathLst>
                <a:path h="912019" w="9722445">
                  <a:moveTo>
                    <a:pt x="0" y="0"/>
                  </a:moveTo>
                  <a:lnTo>
                    <a:pt x="9722445" y="0"/>
                  </a:lnTo>
                  <a:lnTo>
                    <a:pt x="9722445" y="912019"/>
                  </a:lnTo>
                  <a:lnTo>
                    <a:pt x="0" y="912019"/>
                  </a:lnTo>
                  <a:close/>
                </a:path>
              </a:pathLst>
            </a:custGeom>
            <a:solidFill>
              <a:srgbClr val="000000">
                <a:alpha val="0"/>
              </a:srgbClr>
            </a:solidFill>
          </p:spPr>
        </p:sp>
        <p:sp>
          <p:nvSpPr>
            <p:cNvPr name="TextBox 37" id="37"/>
            <p:cNvSpPr txBox="true"/>
            <p:nvPr/>
          </p:nvSpPr>
          <p:spPr>
            <a:xfrm>
              <a:off x="0" y="-114300"/>
              <a:ext cx="9722445" cy="1026319"/>
            </a:xfrm>
            <a:prstGeom prst="rect">
              <a:avLst/>
            </a:prstGeom>
          </p:spPr>
          <p:txBody>
            <a:bodyPr anchor="t" rtlCol="false" tIns="0" lIns="0" bIns="0" rIns="0"/>
            <a:lstStyle/>
            <a:p>
              <a:pPr algn="l" marL="588169" indent="-196056" lvl="2">
                <a:lnSpc>
                  <a:spcPts val="4864"/>
                </a:lnSpc>
                <a:buFont typeface="Arial"/>
                <a:buChar char="⚬"/>
              </a:pPr>
              <a:r>
                <a:rPr lang="en-US" sz="3000">
                  <a:solidFill>
                    <a:srgbClr val="00002E"/>
                  </a:solidFill>
                  <a:latin typeface="PT Sans"/>
                  <a:ea typeface="PT Sans"/>
                  <a:cs typeface="PT Sans"/>
                  <a:sym typeface="PT Sans"/>
                </a:rPr>
                <a:t>LCD Screen</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3F3FF">
                <a:alpha val="31373"/>
              </a:srgbClr>
            </a:solidFill>
          </p:spPr>
        </p:sp>
      </p:grpSp>
      <p:grpSp>
        <p:nvGrpSpPr>
          <p:cNvPr name="Group 6" id="6"/>
          <p:cNvGrpSpPr/>
          <p:nvPr/>
        </p:nvGrpSpPr>
        <p:grpSpPr>
          <a:xfrm rot="0">
            <a:off x="1028700" y="1007269"/>
            <a:ext cx="9411383" cy="1155116"/>
            <a:chOff x="0" y="0"/>
            <a:chExt cx="12548511" cy="1540155"/>
          </a:xfrm>
        </p:grpSpPr>
        <p:sp>
          <p:nvSpPr>
            <p:cNvPr name="Freeform 7" id="7"/>
            <p:cNvSpPr/>
            <p:nvPr/>
          </p:nvSpPr>
          <p:spPr>
            <a:xfrm flipH="false" flipV="false" rot="0">
              <a:off x="0" y="0"/>
              <a:ext cx="12548511" cy="1540155"/>
            </a:xfrm>
            <a:custGeom>
              <a:avLst/>
              <a:gdLst/>
              <a:ahLst/>
              <a:cxnLst/>
              <a:rect r="r" b="b" t="t" l="l"/>
              <a:pathLst>
                <a:path h="1540155" w="12548511">
                  <a:moveTo>
                    <a:pt x="0" y="0"/>
                  </a:moveTo>
                  <a:lnTo>
                    <a:pt x="12548511" y="0"/>
                  </a:lnTo>
                  <a:lnTo>
                    <a:pt x="12548511" y="1540155"/>
                  </a:lnTo>
                  <a:lnTo>
                    <a:pt x="0" y="1540155"/>
                  </a:lnTo>
                  <a:close/>
                </a:path>
              </a:pathLst>
            </a:custGeom>
            <a:solidFill>
              <a:srgbClr val="000000">
                <a:alpha val="0"/>
              </a:srgbClr>
            </a:solidFill>
          </p:spPr>
        </p:sp>
        <p:sp>
          <p:nvSpPr>
            <p:cNvPr name="TextBox 8" id="8"/>
            <p:cNvSpPr txBox="true"/>
            <p:nvPr/>
          </p:nvSpPr>
          <p:spPr>
            <a:xfrm>
              <a:off x="0" y="-38100"/>
              <a:ext cx="12548511" cy="1578255"/>
            </a:xfrm>
            <a:prstGeom prst="rect">
              <a:avLst/>
            </a:prstGeom>
          </p:spPr>
          <p:txBody>
            <a:bodyPr anchor="t" rtlCol="false" tIns="0" lIns="0" bIns="0" rIns="0"/>
            <a:lstStyle/>
            <a:p>
              <a:pPr algn="l">
                <a:lnSpc>
                  <a:spcPts val="6938"/>
                </a:lnSpc>
              </a:pPr>
              <a:r>
                <a:rPr lang="en-US" sz="5498" b="true">
                  <a:solidFill>
                    <a:srgbClr val="00002E"/>
                  </a:solidFill>
                  <a:latin typeface="Nunito Bold"/>
                  <a:ea typeface="Nunito Bold"/>
                  <a:cs typeface="Nunito Bold"/>
                  <a:sym typeface="Nunito Bold"/>
                </a:rPr>
                <a:t>Simulation on Proteus</a:t>
              </a:r>
            </a:p>
          </p:txBody>
        </p:sp>
      </p:grpSp>
      <p:sp>
        <p:nvSpPr>
          <p:cNvPr name="Freeform 9" id="9"/>
          <p:cNvSpPr/>
          <p:nvPr/>
        </p:nvSpPr>
        <p:spPr>
          <a:xfrm flipH="false" flipV="false" rot="0">
            <a:off x="3252266" y="2162385"/>
            <a:ext cx="11188975" cy="7594517"/>
          </a:xfrm>
          <a:custGeom>
            <a:avLst/>
            <a:gdLst/>
            <a:ahLst/>
            <a:cxnLst/>
            <a:rect r="r" b="b" t="t" l="l"/>
            <a:pathLst>
              <a:path h="7594517" w="11188975">
                <a:moveTo>
                  <a:pt x="0" y="0"/>
                </a:moveTo>
                <a:lnTo>
                  <a:pt x="11188975" y="0"/>
                </a:lnTo>
                <a:lnTo>
                  <a:pt x="11188975" y="7594517"/>
                </a:lnTo>
                <a:lnTo>
                  <a:pt x="0" y="7594517"/>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3F3FF">
                <a:alpha val="31373"/>
              </a:srgbClr>
            </a:solidFill>
          </p:spPr>
        </p:sp>
      </p:grpSp>
      <p:grpSp>
        <p:nvGrpSpPr>
          <p:cNvPr name="Group 6" id="6"/>
          <p:cNvGrpSpPr/>
          <p:nvPr/>
        </p:nvGrpSpPr>
        <p:grpSpPr>
          <a:xfrm rot="0">
            <a:off x="1028700" y="696483"/>
            <a:ext cx="6449318" cy="1148619"/>
            <a:chOff x="0" y="0"/>
            <a:chExt cx="8599091" cy="1531491"/>
          </a:xfrm>
        </p:grpSpPr>
        <p:sp>
          <p:nvSpPr>
            <p:cNvPr name="Freeform 7" id="7"/>
            <p:cNvSpPr/>
            <p:nvPr/>
          </p:nvSpPr>
          <p:spPr>
            <a:xfrm flipH="false" flipV="false" rot="0">
              <a:off x="0" y="0"/>
              <a:ext cx="8599091" cy="1531491"/>
            </a:xfrm>
            <a:custGeom>
              <a:avLst/>
              <a:gdLst/>
              <a:ahLst/>
              <a:cxnLst/>
              <a:rect r="r" b="b" t="t" l="l"/>
              <a:pathLst>
                <a:path h="1531491" w="8599091">
                  <a:moveTo>
                    <a:pt x="0" y="0"/>
                  </a:moveTo>
                  <a:lnTo>
                    <a:pt x="8599091" y="0"/>
                  </a:lnTo>
                  <a:lnTo>
                    <a:pt x="8599091" y="1531491"/>
                  </a:lnTo>
                  <a:lnTo>
                    <a:pt x="0" y="1531491"/>
                  </a:lnTo>
                  <a:close/>
                </a:path>
              </a:pathLst>
            </a:custGeom>
            <a:solidFill>
              <a:srgbClr val="000000">
                <a:alpha val="0"/>
              </a:srgbClr>
            </a:solidFill>
          </p:spPr>
        </p:sp>
        <p:sp>
          <p:nvSpPr>
            <p:cNvPr name="TextBox 8" id="8"/>
            <p:cNvSpPr txBox="true"/>
            <p:nvPr/>
          </p:nvSpPr>
          <p:spPr>
            <a:xfrm>
              <a:off x="0" y="-28575"/>
              <a:ext cx="8599091" cy="1560066"/>
            </a:xfrm>
            <a:prstGeom prst="rect">
              <a:avLst/>
            </a:prstGeom>
          </p:spPr>
          <p:txBody>
            <a:bodyPr anchor="t" rtlCol="false" tIns="0" lIns="0" bIns="0" rIns="0"/>
            <a:lstStyle/>
            <a:p>
              <a:pPr algn="l">
                <a:lnSpc>
                  <a:spcPts val="6858"/>
                </a:lnSpc>
              </a:pPr>
              <a:r>
                <a:rPr lang="en-US" sz="5498" b="true">
                  <a:solidFill>
                    <a:srgbClr val="00002E"/>
                  </a:solidFill>
                  <a:latin typeface="Nunito Bold"/>
                  <a:ea typeface="Nunito Bold"/>
                  <a:cs typeface="Nunito Bold"/>
                  <a:sym typeface="Nunito Bold"/>
                </a:rPr>
                <a:t>Arduino Code</a:t>
              </a:r>
            </a:p>
          </p:txBody>
        </p:sp>
      </p:grpSp>
      <p:grpSp>
        <p:nvGrpSpPr>
          <p:cNvPr name="Group 9" id="9"/>
          <p:cNvGrpSpPr/>
          <p:nvPr/>
        </p:nvGrpSpPr>
        <p:grpSpPr>
          <a:xfrm rot="0">
            <a:off x="1314634" y="1845101"/>
            <a:ext cx="14922636" cy="8123969"/>
            <a:chOff x="0" y="0"/>
            <a:chExt cx="19896848" cy="10831959"/>
          </a:xfrm>
        </p:grpSpPr>
        <p:sp>
          <p:nvSpPr>
            <p:cNvPr name="Freeform 10" id="10"/>
            <p:cNvSpPr/>
            <p:nvPr/>
          </p:nvSpPr>
          <p:spPr>
            <a:xfrm flipH="false" flipV="false" rot="0">
              <a:off x="0" y="0"/>
              <a:ext cx="19896817" cy="10832021"/>
            </a:xfrm>
            <a:custGeom>
              <a:avLst/>
              <a:gdLst/>
              <a:ahLst/>
              <a:cxnLst/>
              <a:rect r="r" b="b" t="t" l="l"/>
              <a:pathLst>
                <a:path h="10832021" w="19896817">
                  <a:moveTo>
                    <a:pt x="0" y="0"/>
                  </a:moveTo>
                  <a:lnTo>
                    <a:pt x="19896817" y="0"/>
                  </a:lnTo>
                  <a:lnTo>
                    <a:pt x="19896817" y="10832021"/>
                  </a:lnTo>
                  <a:lnTo>
                    <a:pt x="0" y="10832021"/>
                  </a:lnTo>
                  <a:lnTo>
                    <a:pt x="0" y="0"/>
                  </a:lnTo>
                  <a:close/>
                </a:path>
              </a:pathLst>
            </a:custGeom>
            <a:blipFill>
              <a:blip r:embed="rId4"/>
              <a:stretch>
                <a:fillRect l="-6439" t="-22176" r="-34861" b="-23819"/>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3F3FF">
                <a:alpha val="31373"/>
              </a:srgbClr>
            </a:solidFill>
          </p:spPr>
        </p:sp>
      </p:grpSp>
      <p:grpSp>
        <p:nvGrpSpPr>
          <p:cNvPr name="Group 6" id="6"/>
          <p:cNvGrpSpPr/>
          <p:nvPr/>
        </p:nvGrpSpPr>
        <p:grpSpPr>
          <a:xfrm rot="0">
            <a:off x="844522" y="1028700"/>
            <a:ext cx="16760446" cy="8309665"/>
            <a:chOff x="0" y="0"/>
            <a:chExt cx="22131943" cy="10972800"/>
          </a:xfrm>
        </p:grpSpPr>
        <p:sp>
          <p:nvSpPr>
            <p:cNvPr name="Freeform 7" id="7"/>
            <p:cNvSpPr/>
            <p:nvPr/>
          </p:nvSpPr>
          <p:spPr>
            <a:xfrm flipH="false" flipV="false" rot="0">
              <a:off x="0" y="0"/>
              <a:ext cx="22131910" cy="10972787"/>
            </a:xfrm>
            <a:custGeom>
              <a:avLst/>
              <a:gdLst/>
              <a:ahLst/>
              <a:cxnLst/>
              <a:rect r="r" b="b" t="t" l="l"/>
              <a:pathLst>
                <a:path h="10972787" w="22131910">
                  <a:moveTo>
                    <a:pt x="0" y="0"/>
                  </a:moveTo>
                  <a:lnTo>
                    <a:pt x="22131910" y="0"/>
                  </a:lnTo>
                  <a:lnTo>
                    <a:pt x="22131910" y="10972787"/>
                  </a:lnTo>
                  <a:lnTo>
                    <a:pt x="0" y="10972787"/>
                  </a:lnTo>
                  <a:lnTo>
                    <a:pt x="0" y="0"/>
                  </a:lnTo>
                  <a:close/>
                </a:path>
              </a:pathLst>
            </a:custGeom>
            <a:blipFill>
              <a:blip r:embed="rId4"/>
              <a:stretch>
                <a:fillRect l="-4450" t="-13730" r="-4190" b="-9528"/>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3F3FF">
                <a:alpha val="31373"/>
              </a:srgbClr>
            </a:solidFill>
          </p:spPr>
        </p:sp>
      </p:grpSp>
      <p:grpSp>
        <p:nvGrpSpPr>
          <p:cNvPr name="Group 6" id="6"/>
          <p:cNvGrpSpPr/>
          <p:nvPr/>
        </p:nvGrpSpPr>
        <p:grpSpPr>
          <a:xfrm rot="0">
            <a:off x="526538" y="761925"/>
            <a:ext cx="17234924" cy="8496375"/>
            <a:chOff x="0" y="0"/>
            <a:chExt cx="22597796" cy="11140133"/>
          </a:xfrm>
        </p:grpSpPr>
        <p:sp>
          <p:nvSpPr>
            <p:cNvPr name="Freeform 7" id="7"/>
            <p:cNvSpPr/>
            <p:nvPr/>
          </p:nvSpPr>
          <p:spPr>
            <a:xfrm flipH="false" flipV="false" rot="0">
              <a:off x="0" y="0"/>
              <a:ext cx="22597734" cy="11140158"/>
            </a:xfrm>
            <a:custGeom>
              <a:avLst/>
              <a:gdLst/>
              <a:ahLst/>
              <a:cxnLst/>
              <a:rect r="r" b="b" t="t" l="l"/>
              <a:pathLst>
                <a:path h="11140158" w="22597734">
                  <a:moveTo>
                    <a:pt x="0" y="0"/>
                  </a:moveTo>
                  <a:lnTo>
                    <a:pt x="22597734" y="0"/>
                  </a:lnTo>
                  <a:lnTo>
                    <a:pt x="22597734" y="11140158"/>
                  </a:lnTo>
                  <a:lnTo>
                    <a:pt x="0" y="11140158"/>
                  </a:lnTo>
                  <a:lnTo>
                    <a:pt x="0" y="0"/>
                  </a:lnTo>
                  <a:close/>
                </a:path>
              </a:pathLst>
            </a:custGeom>
            <a:blipFill>
              <a:blip r:embed="rId4"/>
              <a:stretch>
                <a:fillRect l="-4106" t="-13604" r="-506" b="-5761"/>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3F3FF"/>
        </a:solidFill>
      </p:bgPr>
    </p:bg>
    <p:spTree>
      <p:nvGrpSpPr>
        <p:cNvPr id="1" name=""/>
        <p:cNvGrpSpPr/>
        <p:nvPr/>
      </p:nvGrpSpPr>
      <p:grpSpPr>
        <a:xfrm>
          <a:off x="0" y="0"/>
          <a:ext cx="0" cy="0"/>
          <a:chOff x="0" y="0"/>
          <a:chExt cx="0" cy="0"/>
        </a:xfrm>
      </p:grpSpPr>
      <p:grpSp>
        <p:nvGrpSpPr>
          <p:cNvPr name="Group 2" id="2"/>
          <p:cNvGrpSpPr/>
          <p:nvPr/>
        </p:nvGrpSpPr>
        <p:grpSpPr>
          <a:xfrm rot="0">
            <a:off x="5152386" y="1858115"/>
            <a:ext cx="7983228" cy="7942208"/>
            <a:chOff x="0" y="0"/>
            <a:chExt cx="10644304" cy="10589611"/>
          </a:xfrm>
        </p:grpSpPr>
        <p:sp>
          <p:nvSpPr>
            <p:cNvPr name="Freeform 3" id="3"/>
            <p:cNvSpPr/>
            <p:nvPr/>
          </p:nvSpPr>
          <p:spPr>
            <a:xfrm flipH="false" flipV="false" rot="0">
              <a:off x="0" y="0"/>
              <a:ext cx="10644251" cy="10589641"/>
            </a:xfrm>
            <a:custGeom>
              <a:avLst/>
              <a:gdLst/>
              <a:ahLst/>
              <a:cxnLst/>
              <a:rect r="r" b="b" t="t" l="l"/>
              <a:pathLst>
                <a:path h="10589641" w="10644251">
                  <a:moveTo>
                    <a:pt x="0" y="0"/>
                  </a:moveTo>
                  <a:lnTo>
                    <a:pt x="10644251" y="0"/>
                  </a:lnTo>
                  <a:lnTo>
                    <a:pt x="10644251" y="10589641"/>
                  </a:lnTo>
                  <a:lnTo>
                    <a:pt x="0" y="10589641"/>
                  </a:lnTo>
                  <a:lnTo>
                    <a:pt x="0" y="0"/>
                  </a:lnTo>
                  <a:close/>
                </a:path>
              </a:pathLst>
            </a:custGeom>
            <a:blipFill>
              <a:blip r:embed="rId2"/>
              <a:stretch>
                <a:fillRect l="-895" t="0" r="-895" b="0"/>
              </a:stretch>
            </a:blipFill>
          </p:spPr>
        </p:sp>
      </p:grpSp>
      <p:grpSp>
        <p:nvGrpSpPr>
          <p:cNvPr name="Group 4" id="4"/>
          <p:cNvGrpSpPr/>
          <p:nvPr/>
        </p:nvGrpSpPr>
        <p:grpSpPr>
          <a:xfrm rot="0">
            <a:off x="1028700" y="800100"/>
            <a:ext cx="5237905" cy="1058015"/>
            <a:chOff x="0" y="0"/>
            <a:chExt cx="6983873" cy="1410687"/>
          </a:xfrm>
        </p:grpSpPr>
        <p:sp>
          <p:nvSpPr>
            <p:cNvPr name="Freeform 5" id="5"/>
            <p:cNvSpPr/>
            <p:nvPr/>
          </p:nvSpPr>
          <p:spPr>
            <a:xfrm flipH="false" flipV="false" rot="0">
              <a:off x="0" y="0"/>
              <a:ext cx="6983874" cy="1410687"/>
            </a:xfrm>
            <a:custGeom>
              <a:avLst/>
              <a:gdLst/>
              <a:ahLst/>
              <a:cxnLst/>
              <a:rect r="r" b="b" t="t" l="l"/>
              <a:pathLst>
                <a:path h="1410687" w="6983874">
                  <a:moveTo>
                    <a:pt x="0" y="0"/>
                  </a:moveTo>
                  <a:lnTo>
                    <a:pt x="6983874" y="0"/>
                  </a:lnTo>
                  <a:lnTo>
                    <a:pt x="6983874" y="1410687"/>
                  </a:lnTo>
                  <a:lnTo>
                    <a:pt x="0" y="1410687"/>
                  </a:lnTo>
                  <a:close/>
                </a:path>
              </a:pathLst>
            </a:custGeom>
            <a:solidFill>
              <a:srgbClr val="000000">
                <a:alpha val="0"/>
              </a:srgbClr>
            </a:solidFill>
          </p:spPr>
        </p:sp>
        <p:sp>
          <p:nvSpPr>
            <p:cNvPr name="TextBox 6" id="6"/>
            <p:cNvSpPr txBox="true"/>
            <p:nvPr/>
          </p:nvSpPr>
          <p:spPr>
            <a:xfrm>
              <a:off x="0" y="-228600"/>
              <a:ext cx="6983873" cy="1639287"/>
            </a:xfrm>
            <a:prstGeom prst="rect">
              <a:avLst/>
            </a:prstGeom>
          </p:spPr>
          <p:txBody>
            <a:bodyPr anchor="t" rtlCol="false" tIns="0" lIns="0" bIns="0" rIns="0"/>
            <a:lstStyle/>
            <a:p>
              <a:pPr algn="ctr">
                <a:lnSpc>
                  <a:spcPts val="8918"/>
                </a:lnSpc>
              </a:pPr>
              <a:r>
                <a:rPr lang="en-US" sz="5498" b="true">
                  <a:solidFill>
                    <a:srgbClr val="000000"/>
                  </a:solidFill>
                  <a:latin typeface="PT Sans Bold"/>
                  <a:ea typeface="PT Sans Bold"/>
                  <a:cs typeface="PT Sans Bold"/>
                  <a:sym typeface="PT Sans Bold"/>
                </a:rPr>
                <a:t>Literature Review</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3F3FF"/>
        </a:solidFill>
      </p:bgPr>
    </p:bg>
    <p:spTree>
      <p:nvGrpSpPr>
        <p:cNvPr id="1" name=""/>
        <p:cNvGrpSpPr/>
        <p:nvPr/>
      </p:nvGrpSpPr>
      <p:grpSpPr>
        <a:xfrm>
          <a:off x="0" y="0"/>
          <a:ext cx="0" cy="0"/>
          <a:chOff x="0" y="0"/>
          <a:chExt cx="0" cy="0"/>
        </a:xfrm>
      </p:grpSpPr>
      <p:grpSp>
        <p:nvGrpSpPr>
          <p:cNvPr name="Group 2" id="2"/>
          <p:cNvGrpSpPr/>
          <p:nvPr/>
        </p:nvGrpSpPr>
        <p:grpSpPr>
          <a:xfrm rot="0">
            <a:off x="1594704" y="1471785"/>
            <a:ext cx="15098593" cy="7786515"/>
            <a:chOff x="0" y="0"/>
            <a:chExt cx="20131457" cy="10382020"/>
          </a:xfrm>
        </p:grpSpPr>
        <p:sp>
          <p:nvSpPr>
            <p:cNvPr name="Freeform 3" id="3"/>
            <p:cNvSpPr/>
            <p:nvPr/>
          </p:nvSpPr>
          <p:spPr>
            <a:xfrm flipH="false" flipV="false" rot="0">
              <a:off x="0" y="0"/>
              <a:ext cx="20131405" cy="10381996"/>
            </a:xfrm>
            <a:custGeom>
              <a:avLst/>
              <a:gdLst/>
              <a:ahLst/>
              <a:cxnLst/>
              <a:rect r="r" b="b" t="t" l="l"/>
              <a:pathLst>
                <a:path h="10381996" w="20131405">
                  <a:moveTo>
                    <a:pt x="0" y="0"/>
                  </a:moveTo>
                  <a:lnTo>
                    <a:pt x="20131405" y="0"/>
                  </a:lnTo>
                  <a:lnTo>
                    <a:pt x="20131405" y="10381996"/>
                  </a:lnTo>
                  <a:lnTo>
                    <a:pt x="0" y="10381996"/>
                  </a:lnTo>
                  <a:lnTo>
                    <a:pt x="0" y="0"/>
                  </a:lnTo>
                  <a:close/>
                </a:path>
              </a:pathLst>
            </a:custGeom>
            <a:blipFill>
              <a:blip r:embed="rId2"/>
              <a:stretch>
                <a:fillRect l="-1309" t="0" r="-1309" b="0"/>
              </a:stretch>
            </a:blipFill>
          </p:spPr>
        </p:sp>
      </p:grpSp>
    </p:spTree>
  </p:cSld>
  <p:clrMapOvr>
    <a:masterClrMapping/>
  </p:clrMapOvr>
</p:sld>
</file>

<file path=ppt/slides/slide15.xml><?xml version="1.0" encoding="utf-8"?>
<p:sld xmlns:p="http://schemas.openxmlformats.org/presentationml/2006/main" xmlns:a="http://schemas.openxmlformats.org/drawingml/2006/main">
  <p:cSld>
    <p:bg>
      <p:bgPr>
        <a:solidFill>
          <a:srgbClr val="F3F3FF"/>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2928239" y="1770958"/>
          <a:ext cx="10764939" cy="5762355"/>
        </p:xfrm>
        <a:graphic>
          <a:graphicData uri="http://schemas.openxmlformats.org/drawingml/2006/table">
            <a:tbl>
              <a:tblPr/>
              <a:tblGrid>
                <a:gridCol w="1947794"/>
                <a:gridCol w="1703089"/>
                <a:gridCol w="1538646"/>
                <a:gridCol w="1537752"/>
                <a:gridCol w="1744239"/>
                <a:gridCol w="2293418"/>
              </a:tblGrid>
              <a:tr h="1978293">
                <a:tc>
                  <a:txBody>
                    <a:bodyPr anchor="t" rtlCol="false"/>
                    <a:lstStyle/>
                    <a:p>
                      <a:pPr algn="l">
                        <a:lnSpc>
                          <a:spcPts val="1400"/>
                        </a:lnSpc>
                        <a:defRPr/>
                      </a:pPr>
                      <a:r>
                        <a:rPr lang="en-US" sz="1000">
                          <a:solidFill>
                            <a:srgbClr val="000000"/>
                          </a:solidFill>
                          <a:latin typeface="Arimo"/>
                          <a:ea typeface="Arimo"/>
                          <a:cs typeface="Arimo"/>
                          <a:sym typeface="Arimo"/>
                        </a:rPr>
                        <a:t>"Monitoring of Smart Greenhouse"</a:t>
                      </a:r>
                      <a:endParaRPr lang="en-US" sz="1100"/>
                    </a:p>
                  </a:txBody>
                  <a:tcPr marL="57150" marR="57150" marT="57150" marB="57150" anchor="ctr">
                    <a:lnL cmpd="sng" algn="ctr" cap="flat" w="8467">
                      <a:solidFill>
                        <a:srgbClr val="000000"/>
                      </a:solidFill>
                      <a:prstDash val="solid"/>
                      <a:round/>
                      <a:headEnd type="none" w="med" len="med"/>
                      <a:tailEnd type="none" w="med" len="med"/>
                    </a:lnL>
                    <a:lnR cmpd="sng" algn="ctr" cap="flat" w="8467">
                      <a:solidFill>
                        <a:srgbClr val="000000"/>
                      </a:solidFill>
                      <a:prstDash val="solid"/>
                      <a:round/>
                      <a:headEnd type="none" w="med" len="med"/>
                      <a:tailEnd type="none" w="med" len="med"/>
                    </a:lnR>
                    <a:lnT cmpd="sng" algn="ctr" cap="flat" w="8467">
                      <a:solidFill>
                        <a:srgbClr val="000000"/>
                      </a:solidFill>
                      <a:prstDash val="solid"/>
                      <a:round/>
                      <a:headEnd type="none" w="med" len="med"/>
                      <a:tailEnd type="none" w="med" len="med"/>
                    </a:lnT>
                    <a:lnB cmpd="sng" algn="ctr" cap="flat" w="8467">
                      <a:solidFill>
                        <a:srgbClr val="000000"/>
                      </a:solidFill>
                      <a:prstDash val="solid"/>
                      <a:round/>
                      <a:headEnd type="none" w="med" len="med"/>
                      <a:tailEnd type="none" w="med" len="med"/>
                    </a:lnB>
                    <a:solidFill>
                      <a:srgbClr val="D9D9D9"/>
                    </a:solidFill>
                  </a:tcPr>
                </a:tc>
                <a:tc>
                  <a:txBody>
                    <a:bodyPr anchor="t" rtlCol="false"/>
                    <a:lstStyle/>
                    <a:p>
                      <a:pPr algn="l">
                        <a:lnSpc>
                          <a:spcPts val="1120"/>
                        </a:lnSpc>
                        <a:defRPr/>
                      </a:pPr>
                      <a:r>
                        <a:rPr lang="en-US" sz="800">
                          <a:solidFill>
                            <a:srgbClr val="000000"/>
                          </a:solidFill>
                          <a:latin typeface="Arimo"/>
                          <a:ea typeface="Arimo"/>
                          <a:cs typeface="Arimo"/>
                          <a:sym typeface="Arimo"/>
                        </a:rPr>
                        <a:t>A ZigBee-based wireless monitoring system for greenhouses that tracks temperature, humidity, and light intensity, with remote control via Android app. Targets precision agriculture with real-time adjustments.</a:t>
                      </a:r>
                      <a:endParaRPr lang="en-US" sz="1100"/>
                    </a:p>
                  </a:txBody>
                  <a:tcPr marL="57150" marR="57150" marT="57150" marB="57150" anchor="ctr">
                    <a:lnL cmpd="sng" algn="ctr" cap="flat" w="8467">
                      <a:solidFill>
                        <a:srgbClr val="000000"/>
                      </a:solidFill>
                      <a:prstDash val="solid"/>
                      <a:round/>
                      <a:headEnd type="none" w="med" len="med"/>
                      <a:tailEnd type="none" w="med" len="med"/>
                    </a:lnL>
                    <a:lnR cmpd="sng" algn="ctr" cap="flat" w="8467">
                      <a:solidFill>
                        <a:srgbClr val="000000"/>
                      </a:solidFill>
                      <a:prstDash val="solid"/>
                      <a:round/>
                      <a:headEnd type="none" w="med" len="med"/>
                      <a:tailEnd type="none" w="med" len="med"/>
                    </a:lnR>
                    <a:lnT cmpd="sng" algn="ctr" cap="flat" w="8467">
                      <a:solidFill>
                        <a:srgbClr val="000000"/>
                      </a:solidFill>
                      <a:prstDash val="solid"/>
                      <a:round/>
                      <a:headEnd type="none" w="med" len="med"/>
                      <a:tailEnd type="none" w="med" len="med"/>
                    </a:lnT>
                    <a:lnB cmpd="sng" algn="ctr" cap="flat" w="8467">
                      <a:solidFill>
                        <a:srgbClr val="000000"/>
                      </a:solidFill>
                      <a:prstDash val="solid"/>
                      <a:round/>
                      <a:headEnd type="none" w="med" len="med"/>
                      <a:tailEnd type="none" w="med" len="med"/>
                    </a:lnB>
                    <a:solidFill>
                      <a:srgbClr val="FEFEFE"/>
                    </a:solidFill>
                  </a:tcPr>
                </a:tc>
                <a:tc>
                  <a:txBody>
                    <a:bodyPr anchor="t" rtlCol="false"/>
                    <a:lstStyle/>
                    <a:p>
                      <a:pPr algn="l">
                        <a:lnSpc>
                          <a:spcPts val="1120"/>
                        </a:lnSpc>
                        <a:defRPr/>
                      </a:pPr>
                      <a:r>
                        <a:rPr lang="en-US" sz="800">
                          <a:solidFill>
                            <a:srgbClr val="000000"/>
                          </a:solidFill>
                          <a:latin typeface="Arimo"/>
                          <a:ea typeface="Arimo"/>
                          <a:cs typeface="Arimo"/>
                          <a:sym typeface="Arimo"/>
                        </a:rPr>
                        <a:t>- </a:t>
                      </a:r>
                      <a:r>
                        <a:rPr lang="en-US" sz="800">
                          <a:solidFill>
                            <a:srgbClr val="000000"/>
                          </a:solidFill>
                          <a:latin typeface="Arimo"/>
                          <a:ea typeface="Arimo"/>
                          <a:cs typeface="Arimo"/>
                          <a:sym typeface="Arimo"/>
                        </a:rPr>
                        <a:t>Hardware: LM35 (temp), LDR (light), capacitive humidity sensors, ZigBee XBee modules.</a:t>
                      </a:r>
                      <a:endParaRPr lang="en-US" sz="1100"/>
                    </a:p>
                    <a:p>
                      <a:pPr algn="l">
                        <a:lnSpc>
                          <a:spcPts val="1120"/>
                        </a:lnSpc>
                      </a:pPr>
                      <a:r>
                        <a:rPr lang="en-US" sz="800">
                          <a:solidFill>
                            <a:srgbClr val="000000"/>
                          </a:solidFill>
                          <a:latin typeface="Arimo"/>
                          <a:ea typeface="Arimo"/>
                          <a:cs typeface="Arimo"/>
                          <a:sym typeface="Arimo"/>
                        </a:rPr>
                        <a:t>- Software: Android app for remote control, RS232 serial communication.</a:t>
                      </a:r>
                    </a:p>
                    <a:p>
                      <a:pPr algn="l">
                        <a:lnSpc>
                          <a:spcPts val="1120"/>
                        </a:lnSpc>
                      </a:pPr>
                      <a:r>
                        <a:rPr lang="en-US" sz="800">
                          <a:solidFill>
                            <a:srgbClr val="000000"/>
                          </a:solidFill>
                          <a:latin typeface="Arimo"/>
                          <a:ea typeface="Arimo"/>
                          <a:cs typeface="Arimo"/>
                          <a:sym typeface="Arimo"/>
                        </a:rPr>
                        <a:t>- Protocol: ZigBee (802.15.4) for WSN.</a:t>
                      </a:r>
                    </a:p>
                  </a:txBody>
                  <a:tcPr marL="57150" marR="57150" marT="57150" marB="57150" anchor="ctr">
                    <a:lnL cmpd="sng" algn="ctr" cap="flat" w="8467">
                      <a:solidFill>
                        <a:srgbClr val="000000"/>
                      </a:solidFill>
                      <a:prstDash val="solid"/>
                      <a:round/>
                      <a:headEnd type="none" w="med" len="med"/>
                      <a:tailEnd type="none" w="med" len="med"/>
                    </a:lnL>
                    <a:lnR cmpd="sng" algn="ctr" cap="flat" w="8467">
                      <a:solidFill>
                        <a:srgbClr val="000000"/>
                      </a:solidFill>
                      <a:prstDash val="solid"/>
                      <a:round/>
                      <a:headEnd type="none" w="med" len="med"/>
                      <a:tailEnd type="none" w="med" len="med"/>
                    </a:lnR>
                    <a:lnT cmpd="sng" algn="ctr" cap="flat" w="8467">
                      <a:solidFill>
                        <a:srgbClr val="000000"/>
                      </a:solidFill>
                      <a:prstDash val="solid"/>
                      <a:round/>
                      <a:headEnd type="none" w="med" len="med"/>
                      <a:tailEnd type="none" w="med" len="med"/>
                    </a:lnT>
                    <a:lnB cmpd="sng" algn="ctr" cap="flat" w="8467">
                      <a:solidFill>
                        <a:srgbClr val="000000"/>
                      </a:solidFill>
                      <a:prstDash val="solid"/>
                      <a:round/>
                      <a:headEnd type="none" w="med" len="med"/>
                      <a:tailEnd type="none" w="med" len="med"/>
                    </a:lnB>
                    <a:solidFill>
                      <a:srgbClr val="FEFEFE"/>
                    </a:solidFill>
                  </a:tcPr>
                </a:tc>
                <a:tc>
                  <a:txBody>
                    <a:bodyPr anchor="t" rtlCol="false"/>
                    <a:lstStyle/>
                    <a:p>
                      <a:pPr algn="l">
                        <a:lnSpc>
                          <a:spcPts val="1120"/>
                        </a:lnSpc>
                        <a:defRPr/>
                      </a:pPr>
                      <a:r>
                        <a:rPr lang="en-US" sz="800">
                          <a:solidFill>
                            <a:srgbClr val="000000"/>
                          </a:solidFill>
                          <a:latin typeface="Arimo"/>
                          <a:ea typeface="Arimo"/>
                          <a:cs typeface="Arimo"/>
                          <a:sym typeface="Arimo"/>
                        </a:rPr>
                        <a:t>- Low-cost (~$100 per node).</a:t>
                      </a:r>
                      <a:endParaRPr lang="en-US" sz="1100"/>
                    </a:p>
                    <a:p>
                      <a:pPr algn="l">
                        <a:lnSpc>
                          <a:spcPts val="1120"/>
                        </a:lnSpc>
                      </a:pPr>
                      <a:r>
                        <a:rPr lang="en-US" sz="800">
                          <a:solidFill>
                            <a:srgbClr val="000000"/>
                          </a:solidFill>
                          <a:latin typeface="Arimo"/>
                          <a:ea typeface="Arimo"/>
                          <a:cs typeface="Arimo"/>
                          <a:sym typeface="Arimo"/>
                        </a:rPr>
                        <a:t>- Long battery life (years).</a:t>
                      </a:r>
                    </a:p>
                    <a:p>
                      <a:pPr algn="l">
                        <a:lnSpc>
                          <a:spcPts val="1120"/>
                        </a:lnSpc>
                      </a:pPr>
                      <a:r>
                        <a:rPr lang="en-US" sz="800">
                          <a:solidFill>
                            <a:srgbClr val="000000"/>
                          </a:solidFill>
                          <a:latin typeface="Arimo"/>
                          <a:ea typeface="Arimo"/>
                          <a:cs typeface="Arimo"/>
                          <a:sym typeface="Arimo"/>
                        </a:rPr>
                        <a:t>- 300m range (outperforms Bluetooth/Wi-Fi).</a:t>
                      </a:r>
                    </a:p>
                    <a:p>
                      <a:pPr algn="l">
                        <a:lnSpc>
                          <a:spcPts val="1120"/>
                        </a:lnSpc>
                      </a:pPr>
                      <a:r>
                        <a:rPr lang="en-US" sz="800">
                          <a:solidFill>
                            <a:srgbClr val="000000"/>
                          </a:solidFill>
                          <a:latin typeface="Arimo"/>
                          <a:ea typeface="Arimo"/>
                          <a:cs typeface="Arimo"/>
                          <a:sym typeface="Arimo"/>
                        </a:rPr>
                        <a:t>- Real-time alerts and actuator control (fans, curtains, sprinklers).</a:t>
                      </a:r>
                    </a:p>
                  </a:txBody>
                  <a:tcPr marL="57150" marR="57150" marT="57150" marB="57150" anchor="ctr">
                    <a:lnL cmpd="sng" algn="ctr" cap="flat" w="8467">
                      <a:solidFill>
                        <a:srgbClr val="000000"/>
                      </a:solidFill>
                      <a:prstDash val="solid"/>
                      <a:round/>
                      <a:headEnd type="none" w="med" len="med"/>
                      <a:tailEnd type="none" w="med" len="med"/>
                    </a:lnL>
                    <a:lnR cmpd="sng" algn="ctr" cap="flat" w="8467">
                      <a:solidFill>
                        <a:srgbClr val="000000"/>
                      </a:solidFill>
                      <a:prstDash val="solid"/>
                      <a:round/>
                      <a:headEnd type="none" w="med" len="med"/>
                      <a:tailEnd type="none" w="med" len="med"/>
                    </a:lnR>
                    <a:lnT cmpd="sng" algn="ctr" cap="flat" w="8467">
                      <a:solidFill>
                        <a:srgbClr val="000000"/>
                      </a:solidFill>
                      <a:prstDash val="solid"/>
                      <a:round/>
                      <a:headEnd type="none" w="med" len="med"/>
                      <a:tailEnd type="none" w="med" len="med"/>
                    </a:lnT>
                    <a:lnB cmpd="sng" algn="ctr" cap="flat" w="8467">
                      <a:solidFill>
                        <a:srgbClr val="000000"/>
                      </a:solidFill>
                      <a:prstDash val="solid"/>
                      <a:round/>
                      <a:headEnd type="none" w="med" len="med"/>
                      <a:tailEnd type="none" w="med" len="med"/>
                    </a:lnB>
                    <a:solidFill>
                      <a:srgbClr val="FEFEFE"/>
                    </a:solidFill>
                  </a:tcPr>
                </a:tc>
                <a:tc>
                  <a:txBody>
                    <a:bodyPr anchor="t" rtlCol="false"/>
                    <a:lstStyle/>
                    <a:p>
                      <a:pPr algn="l">
                        <a:lnSpc>
                          <a:spcPts val="1120"/>
                        </a:lnSpc>
                        <a:defRPr/>
                      </a:pPr>
                      <a:r>
                        <a:rPr lang="en-US" sz="800">
                          <a:solidFill>
                            <a:srgbClr val="000000"/>
                          </a:solidFill>
                          <a:latin typeface="Arimo"/>
                          <a:ea typeface="Arimo"/>
                          <a:cs typeface="Arimo"/>
                          <a:sym typeface="Arimo"/>
                        </a:rPr>
                        <a:t>- Limited to 250 Kbps data rate.</a:t>
                      </a:r>
                      <a:endParaRPr lang="en-US" sz="1100"/>
                    </a:p>
                    <a:p>
                      <a:pPr algn="l">
                        <a:lnSpc>
                          <a:spcPts val="1120"/>
                        </a:lnSpc>
                      </a:pPr>
                      <a:r>
                        <a:rPr lang="en-US" sz="800">
                          <a:solidFill>
                            <a:srgbClr val="000000"/>
                          </a:solidFill>
                          <a:latin typeface="Arimo"/>
                          <a:ea typeface="Arimo"/>
                          <a:cs typeface="Arimo"/>
                          <a:sym typeface="Arimo"/>
                        </a:rPr>
                        <a:t>- No AI/ML for predictive control.</a:t>
                      </a:r>
                    </a:p>
                    <a:p>
                      <a:pPr algn="l">
                        <a:lnSpc>
                          <a:spcPts val="1120"/>
                        </a:lnSpc>
                      </a:pPr>
                      <a:r>
                        <a:rPr lang="en-US" sz="800">
                          <a:solidFill>
                            <a:srgbClr val="000000"/>
                          </a:solidFill>
                          <a:latin typeface="Arimo"/>
                          <a:ea typeface="Arimo"/>
                          <a:cs typeface="Arimo"/>
                          <a:sym typeface="Arimo"/>
                        </a:rPr>
                        <a:t>- Requires manual intervention via app.</a:t>
                      </a:r>
                    </a:p>
                    <a:p>
                      <a:pPr algn="l">
                        <a:lnSpc>
                          <a:spcPts val="1120"/>
                        </a:lnSpc>
                      </a:pPr>
                      <a:r>
                        <a:rPr lang="en-US" sz="800">
                          <a:solidFill>
                            <a:srgbClr val="000000"/>
                          </a:solidFill>
                          <a:latin typeface="Arimo"/>
                          <a:ea typeface="Arimo"/>
                          <a:cs typeface="Arimo"/>
                          <a:sym typeface="Arimo"/>
                        </a:rPr>
                        <a:t>- No cloud storage (local PC only).</a:t>
                      </a:r>
                    </a:p>
                  </a:txBody>
                  <a:tcPr marL="57150" marR="57150" marT="57150" marB="57150" anchor="ctr">
                    <a:lnL cmpd="sng" algn="ctr" cap="flat" w="8467">
                      <a:solidFill>
                        <a:srgbClr val="000000"/>
                      </a:solidFill>
                      <a:prstDash val="solid"/>
                      <a:round/>
                      <a:headEnd type="none" w="med" len="med"/>
                      <a:tailEnd type="none" w="med" len="med"/>
                    </a:lnL>
                    <a:lnR cmpd="sng" algn="ctr" cap="flat" w="8467">
                      <a:solidFill>
                        <a:srgbClr val="000000"/>
                      </a:solidFill>
                      <a:prstDash val="solid"/>
                      <a:round/>
                      <a:headEnd type="none" w="med" len="med"/>
                      <a:tailEnd type="none" w="med" len="med"/>
                    </a:lnR>
                    <a:lnT cmpd="sng" algn="ctr" cap="flat" w="8467">
                      <a:solidFill>
                        <a:srgbClr val="000000"/>
                      </a:solidFill>
                      <a:prstDash val="solid"/>
                      <a:round/>
                      <a:headEnd type="none" w="med" len="med"/>
                      <a:tailEnd type="none" w="med" len="med"/>
                    </a:lnT>
                    <a:lnB cmpd="sng" algn="ctr" cap="flat" w="8467">
                      <a:solidFill>
                        <a:srgbClr val="000000"/>
                      </a:solidFill>
                      <a:prstDash val="solid"/>
                      <a:round/>
                      <a:headEnd type="none" w="med" len="med"/>
                      <a:tailEnd type="none" w="med" len="med"/>
                    </a:lnB>
                    <a:solidFill>
                      <a:srgbClr val="FEFEFE"/>
                    </a:solidFill>
                  </a:tcPr>
                </a:tc>
                <a:tc>
                  <a:txBody>
                    <a:bodyPr anchor="t" rtlCol="false"/>
                    <a:lstStyle/>
                    <a:p>
                      <a:pPr algn="l">
                        <a:lnSpc>
                          <a:spcPts val="1120"/>
                        </a:lnSpc>
                        <a:defRPr/>
                      </a:pPr>
                      <a:r>
                        <a:rPr lang="en-US" sz="800">
                          <a:solidFill>
                            <a:srgbClr val="000000"/>
                          </a:solidFill>
                          <a:latin typeface="Arimo"/>
                          <a:ea typeface="Arimo"/>
                          <a:cs typeface="Arimo"/>
                          <a:sym typeface="Arimo"/>
                        </a:rPr>
                        <a:t>- </a:t>
                      </a:r>
                      <a:r>
                        <a:rPr lang="en-US" sz="800">
                          <a:solidFill>
                            <a:srgbClr val="000000"/>
                          </a:solidFill>
                          <a:latin typeface="Arimo"/>
                          <a:ea typeface="Arimo"/>
                          <a:cs typeface="Arimo"/>
                          <a:sym typeface="Arimo"/>
                        </a:rPr>
                        <a:t>Sensing: Analog sensors → ADC → Microcontroller.</a:t>
                      </a:r>
                      <a:endParaRPr lang="en-US" sz="1100"/>
                    </a:p>
                    <a:p>
                      <a:pPr algn="l">
                        <a:lnSpc>
                          <a:spcPts val="1120"/>
                        </a:lnSpc>
                      </a:pPr>
                      <a:r>
                        <a:rPr lang="en-US" sz="800">
                          <a:solidFill>
                            <a:srgbClr val="000000"/>
                          </a:solidFill>
                          <a:latin typeface="Arimo"/>
                          <a:ea typeface="Arimo"/>
                          <a:cs typeface="Arimo"/>
                          <a:sym typeface="Arimo"/>
                        </a:rPr>
                        <a:t>- Communication: ZigBee mesh network → PC (RS232) → Android app.</a:t>
                      </a:r>
                    </a:p>
                    <a:p>
                      <a:pPr algn="l">
                        <a:lnSpc>
                          <a:spcPts val="1120"/>
                        </a:lnSpc>
                      </a:pPr>
                      <a:r>
                        <a:rPr lang="en-US" sz="800">
                          <a:solidFill>
                            <a:srgbClr val="000000"/>
                          </a:solidFill>
                          <a:latin typeface="Arimo"/>
                          <a:ea typeface="Arimo"/>
                          <a:cs typeface="Arimo"/>
                          <a:sym typeface="Arimo"/>
                        </a:rPr>
                        <a:t>- Control: Threshold-based fan/curtain/sprinkler activation.</a:t>
                      </a:r>
                    </a:p>
                  </a:txBody>
                  <a:tcPr marL="57150" marR="57150" marT="57150" marB="57150" anchor="ctr">
                    <a:lnL cmpd="sng" algn="ctr" cap="flat" w="8467">
                      <a:solidFill>
                        <a:srgbClr val="000000"/>
                      </a:solidFill>
                      <a:prstDash val="solid"/>
                      <a:round/>
                      <a:headEnd type="none" w="med" len="med"/>
                      <a:tailEnd type="none" w="med" len="med"/>
                    </a:lnL>
                    <a:lnR cmpd="sng" algn="ctr" cap="flat" w="8467">
                      <a:solidFill>
                        <a:srgbClr val="000000"/>
                      </a:solidFill>
                      <a:prstDash val="solid"/>
                      <a:round/>
                      <a:headEnd type="none" w="med" len="med"/>
                      <a:tailEnd type="none" w="med" len="med"/>
                    </a:lnR>
                    <a:lnT cmpd="sng" algn="ctr" cap="flat" w="8467">
                      <a:solidFill>
                        <a:srgbClr val="000000"/>
                      </a:solidFill>
                      <a:prstDash val="solid"/>
                      <a:round/>
                      <a:headEnd type="none" w="med" len="med"/>
                      <a:tailEnd type="none" w="med" len="med"/>
                    </a:lnT>
                    <a:lnB cmpd="sng" algn="ctr" cap="flat" w="8467">
                      <a:solidFill>
                        <a:srgbClr val="000000"/>
                      </a:solidFill>
                      <a:prstDash val="solid"/>
                      <a:round/>
                      <a:headEnd type="none" w="med" len="med"/>
                      <a:tailEnd type="none" w="med" len="med"/>
                    </a:lnB>
                    <a:solidFill>
                      <a:srgbClr val="FEFEFE"/>
                    </a:solidFill>
                  </a:tcPr>
                </a:tc>
              </a:tr>
              <a:tr h="3784061">
                <a:tc>
                  <a:txBody>
                    <a:bodyPr anchor="t" rtlCol="false"/>
                    <a:lstStyle/>
                    <a:p>
                      <a:pPr algn="l">
                        <a:lnSpc>
                          <a:spcPts val="1400"/>
                        </a:lnSpc>
                        <a:defRPr/>
                      </a:pPr>
                      <a:r>
                        <a:rPr lang="en-US" sz="1000">
                          <a:solidFill>
                            <a:srgbClr val="000000"/>
                          </a:solidFill>
                          <a:latin typeface="Arimo"/>
                          <a:ea typeface="Arimo"/>
                          <a:cs typeface="Arimo"/>
                          <a:sym typeface="Arimo"/>
                        </a:rPr>
                        <a:t>"Greenhouse Monitoring and Control System Using IoT"</a:t>
                      </a:r>
                      <a:endParaRPr lang="en-US" sz="1100"/>
                    </a:p>
                  </a:txBody>
                  <a:tcPr marL="57150" marR="57150" marT="57150" marB="57150" anchor="ctr">
                    <a:lnL cmpd="sng" algn="ctr" cap="flat" w="8467">
                      <a:solidFill>
                        <a:srgbClr val="000000"/>
                      </a:solidFill>
                      <a:prstDash val="solid"/>
                      <a:round/>
                      <a:headEnd type="none" w="med" len="med"/>
                      <a:tailEnd type="none" w="med" len="med"/>
                    </a:lnL>
                    <a:lnR cmpd="sng" algn="ctr" cap="flat" w="8467">
                      <a:solidFill>
                        <a:srgbClr val="000000"/>
                      </a:solidFill>
                      <a:prstDash val="solid"/>
                      <a:round/>
                      <a:headEnd type="none" w="med" len="med"/>
                      <a:tailEnd type="none" w="med" len="med"/>
                    </a:lnR>
                    <a:lnT cmpd="sng" algn="ctr" cap="flat" w="8467">
                      <a:solidFill>
                        <a:srgbClr val="000000"/>
                      </a:solidFill>
                      <a:prstDash val="solid"/>
                      <a:round/>
                      <a:headEnd type="none" w="med" len="med"/>
                      <a:tailEnd type="none" w="med" len="med"/>
                    </a:lnT>
                    <a:lnB cmpd="sng" algn="ctr" cap="flat" w="8467">
                      <a:solidFill>
                        <a:srgbClr val="000000"/>
                      </a:solidFill>
                      <a:prstDash val="solid"/>
                      <a:round/>
                      <a:headEnd type="none" w="med" len="med"/>
                      <a:tailEnd type="none" w="med" len="med"/>
                    </a:lnB>
                    <a:solidFill>
                      <a:srgbClr val="D9D9D9"/>
                    </a:solidFill>
                  </a:tcPr>
                </a:tc>
                <a:tc>
                  <a:txBody>
                    <a:bodyPr anchor="t" rtlCol="false"/>
                    <a:lstStyle/>
                    <a:p>
                      <a:pPr algn="l">
                        <a:lnSpc>
                          <a:spcPts val="1120"/>
                        </a:lnSpc>
                        <a:defRPr/>
                      </a:pPr>
                      <a:r>
                        <a:rPr lang="en-US" sz="800">
                          <a:solidFill>
                            <a:srgbClr val="000000"/>
                          </a:solidFill>
                          <a:latin typeface="Arimo"/>
                          <a:ea typeface="Arimo"/>
                          <a:cs typeface="Arimo"/>
                          <a:sym typeface="Arimo"/>
                        </a:rPr>
                        <a:t>The project focuses on developing a </a:t>
                      </a:r>
                      <a:r>
                        <a:rPr lang="en-US" sz="800">
                          <a:solidFill>
                            <a:srgbClr val="000000"/>
                          </a:solidFill>
                          <a:latin typeface="Arimo"/>
                          <a:ea typeface="Arimo"/>
                          <a:cs typeface="Arimo"/>
                          <a:sym typeface="Arimo"/>
                        </a:rPr>
                        <a:t>Greenhouse Monitoring and Control System using IoT to automate and optimize plant growth conditions. It replaces manual supervision with sensors (temperature, humidity, light, soil moisture) and an Arduino UNO microcontroller. Data is stored in the cloud and can be monitored/controlled via an Android app.</a:t>
                      </a:r>
                      <a:endParaRPr lang="en-US" sz="1100"/>
                    </a:p>
                  </a:txBody>
                  <a:tcPr marL="57150" marR="57150" marT="57150" marB="57150" anchor="ctr">
                    <a:lnL cmpd="sng" algn="ctr" cap="flat" w="8467">
                      <a:solidFill>
                        <a:srgbClr val="000000"/>
                      </a:solidFill>
                      <a:prstDash val="solid"/>
                      <a:round/>
                      <a:headEnd type="none" w="med" len="med"/>
                      <a:tailEnd type="none" w="med" len="med"/>
                    </a:lnL>
                    <a:lnR cmpd="sng" algn="ctr" cap="flat" w="8467">
                      <a:solidFill>
                        <a:srgbClr val="000000"/>
                      </a:solidFill>
                      <a:prstDash val="solid"/>
                      <a:round/>
                      <a:headEnd type="none" w="med" len="med"/>
                      <a:tailEnd type="none" w="med" len="med"/>
                    </a:lnR>
                    <a:lnT cmpd="sng" algn="ctr" cap="flat" w="8467">
                      <a:solidFill>
                        <a:srgbClr val="000000"/>
                      </a:solidFill>
                      <a:prstDash val="solid"/>
                      <a:round/>
                      <a:headEnd type="none" w="med" len="med"/>
                      <a:tailEnd type="none" w="med" len="med"/>
                    </a:lnT>
                    <a:lnB cmpd="sng" algn="ctr" cap="flat" w="8467">
                      <a:solidFill>
                        <a:srgbClr val="000000"/>
                      </a:solidFill>
                      <a:prstDash val="solid"/>
                      <a:round/>
                      <a:headEnd type="none" w="med" len="med"/>
                      <a:tailEnd type="none" w="med" len="med"/>
                    </a:lnB>
                    <a:solidFill>
                      <a:srgbClr val="FEFEFE"/>
                    </a:solidFill>
                  </a:tcPr>
                </a:tc>
                <a:tc>
                  <a:txBody>
                    <a:bodyPr anchor="t" rtlCol="false"/>
                    <a:lstStyle/>
                    <a:p>
                      <a:pPr algn="l">
                        <a:lnSpc>
                          <a:spcPts val="1120"/>
                        </a:lnSpc>
                        <a:defRPr/>
                      </a:pPr>
                      <a:r>
                        <a:rPr lang="en-US" sz="800">
                          <a:solidFill>
                            <a:srgbClr val="000000"/>
                          </a:solidFill>
                          <a:latin typeface="Arimo"/>
                          <a:ea typeface="Arimo"/>
                          <a:cs typeface="Arimo"/>
                          <a:sym typeface="Arimo"/>
                        </a:rPr>
                        <a:t>-Sensors: Light, temperature, moisture, and humidity sensors collect environmental data.</a:t>
                      </a:r>
                      <a:endParaRPr lang="en-US" sz="1100"/>
                    </a:p>
                    <a:p>
                      <a:pPr algn="l">
                        <a:lnSpc>
                          <a:spcPts val="1120"/>
                        </a:lnSpc>
                      </a:pPr>
                      <a:r>
                        <a:rPr lang="en-US" sz="800">
                          <a:solidFill>
                            <a:srgbClr val="000000"/>
                          </a:solidFill>
                          <a:latin typeface="Arimo"/>
                          <a:ea typeface="Arimo"/>
                          <a:cs typeface="Arimo"/>
                          <a:sym typeface="Arimo"/>
                        </a:rPr>
                        <a:t>-</a:t>
                      </a:r>
                      <a:r>
                        <a:rPr lang="en-US" sz="800">
                          <a:solidFill>
                            <a:srgbClr val="000000"/>
                          </a:solidFill>
                          <a:latin typeface="Arimo"/>
                          <a:ea typeface="Arimo"/>
                          <a:cs typeface="Arimo"/>
                          <a:sym typeface="Arimo"/>
                        </a:rPr>
                        <a:t>Microcontroller: Arduino UNO processes sensor data and triggers actuators (fans, LEDs, water pumps).</a:t>
                      </a:r>
                    </a:p>
                    <a:p>
                      <a:pPr algn="l">
                        <a:lnSpc>
                          <a:spcPts val="1120"/>
                        </a:lnSpc>
                      </a:pPr>
                      <a:r>
                        <a:rPr lang="en-US" sz="800">
                          <a:solidFill>
                            <a:srgbClr val="000000"/>
                          </a:solidFill>
                          <a:latin typeface="Arimo"/>
                          <a:ea typeface="Arimo"/>
                          <a:cs typeface="Arimo"/>
                          <a:sym typeface="Arimo"/>
                        </a:rPr>
                        <a:t>-</a:t>
                      </a:r>
                      <a:r>
                        <a:rPr lang="en-US" sz="800">
                          <a:solidFill>
                            <a:srgbClr val="000000"/>
                          </a:solidFill>
                          <a:latin typeface="Arimo"/>
                          <a:ea typeface="Arimo"/>
                          <a:cs typeface="Arimo"/>
                          <a:sym typeface="Arimo"/>
                        </a:rPr>
                        <a:t>Cloud/App: Data is stored in the cloud; an Android app provides real-time monitoring and control.</a:t>
                      </a:r>
                    </a:p>
                    <a:p>
                      <a:pPr algn="l">
                        <a:lnSpc>
                          <a:spcPts val="1120"/>
                        </a:lnSpc>
                      </a:pPr>
                      <a:r>
                        <a:rPr lang="en-US" sz="800">
                          <a:solidFill>
                            <a:srgbClr val="000000"/>
                          </a:solidFill>
                          <a:latin typeface="Arimo"/>
                          <a:ea typeface="Arimo"/>
                          <a:cs typeface="Arimo"/>
                          <a:sym typeface="Arimo"/>
                        </a:rPr>
                        <a:t>-</a:t>
                      </a:r>
                      <a:r>
                        <a:rPr lang="en-US" sz="800">
                          <a:solidFill>
                            <a:srgbClr val="000000"/>
                          </a:solidFill>
                          <a:latin typeface="Arimo"/>
                          <a:ea typeface="Arimo"/>
                          <a:cs typeface="Arimo"/>
                          <a:sym typeface="Arimo"/>
                        </a:rPr>
                        <a:t>Power Supply: 5V DC powers the system.</a:t>
                      </a:r>
                    </a:p>
                    <a:p>
                      <a:pPr algn="l">
                        <a:lnSpc>
                          <a:spcPts val="1120"/>
                        </a:lnSpc>
                      </a:pPr>
                    </a:p>
                  </a:txBody>
                  <a:tcPr marL="57150" marR="57150" marT="57150" marB="57150" anchor="ctr">
                    <a:lnL cmpd="sng" algn="ctr" cap="flat" w="8467">
                      <a:solidFill>
                        <a:srgbClr val="000000"/>
                      </a:solidFill>
                      <a:prstDash val="solid"/>
                      <a:round/>
                      <a:headEnd type="none" w="med" len="med"/>
                      <a:tailEnd type="none" w="med" len="med"/>
                    </a:lnL>
                    <a:lnR cmpd="sng" algn="ctr" cap="flat" w="8467">
                      <a:solidFill>
                        <a:srgbClr val="000000"/>
                      </a:solidFill>
                      <a:prstDash val="solid"/>
                      <a:round/>
                      <a:headEnd type="none" w="med" len="med"/>
                      <a:tailEnd type="none" w="med" len="med"/>
                    </a:lnR>
                    <a:lnT cmpd="sng" algn="ctr" cap="flat" w="8467">
                      <a:solidFill>
                        <a:srgbClr val="000000"/>
                      </a:solidFill>
                      <a:prstDash val="solid"/>
                      <a:round/>
                      <a:headEnd type="none" w="med" len="med"/>
                      <a:tailEnd type="none" w="med" len="med"/>
                    </a:lnT>
                    <a:lnB cmpd="sng" algn="ctr" cap="flat" w="8467">
                      <a:solidFill>
                        <a:srgbClr val="000000"/>
                      </a:solidFill>
                      <a:prstDash val="solid"/>
                      <a:round/>
                      <a:headEnd type="none" w="med" len="med"/>
                      <a:tailEnd type="none" w="med" len="med"/>
                    </a:lnB>
                    <a:solidFill>
                      <a:srgbClr val="FEFEFE"/>
                    </a:solidFill>
                  </a:tcPr>
                </a:tc>
                <a:tc>
                  <a:txBody>
                    <a:bodyPr anchor="t" rtlCol="false"/>
                    <a:lstStyle/>
                    <a:p>
                      <a:pPr algn="l">
                        <a:lnSpc>
                          <a:spcPts val="1120"/>
                        </a:lnSpc>
                        <a:defRPr/>
                      </a:pPr>
                      <a:r>
                        <a:rPr lang="en-US" sz="800">
                          <a:solidFill>
                            <a:srgbClr val="000000"/>
                          </a:solidFill>
                          <a:latin typeface="Arimo"/>
                          <a:ea typeface="Arimo"/>
                          <a:cs typeface="Arimo"/>
                          <a:sym typeface="Arimo"/>
                        </a:rPr>
                        <a:t>-Automation: Reduces manual labor and human error.</a:t>
                      </a:r>
                      <a:endParaRPr lang="en-US" sz="1100"/>
                    </a:p>
                    <a:p>
                      <a:pPr algn="l">
                        <a:lnSpc>
                          <a:spcPts val="1120"/>
                        </a:lnSpc>
                      </a:pPr>
                      <a:r>
                        <a:rPr lang="en-US" sz="800">
                          <a:solidFill>
                            <a:srgbClr val="000000"/>
                          </a:solidFill>
                          <a:latin typeface="Arimo"/>
                          <a:ea typeface="Arimo"/>
                          <a:cs typeface="Arimo"/>
                          <a:sym typeface="Arimo"/>
                        </a:rPr>
                        <a:t>-</a:t>
                      </a:r>
                      <a:r>
                        <a:rPr lang="en-US" sz="800">
                          <a:solidFill>
                            <a:srgbClr val="000000"/>
                          </a:solidFill>
                          <a:latin typeface="Arimo"/>
                          <a:ea typeface="Arimo"/>
                          <a:cs typeface="Arimo"/>
                          <a:sym typeface="Arimo"/>
                        </a:rPr>
                        <a:t>Efficiency: Optimizes plant growth conditions (light, water, temperature).</a:t>
                      </a:r>
                    </a:p>
                    <a:p>
                      <a:pPr algn="l">
                        <a:lnSpc>
                          <a:spcPts val="1120"/>
                        </a:lnSpc>
                      </a:pPr>
                      <a:r>
                        <a:rPr lang="en-US" sz="800">
                          <a:solidFill>
                            <a:srgbClr val="000000"/>
                          </a:solidFill>
                          <a:latin typeface="Arimo"/>
                          <a:ea typeface="Arimo"/>
                          <a:cs typeface="Arimo"/>
                          <a:sym typeface="Arimo"/>
                        </a:rPr>
                        <a:t>-</a:t>
                      </a:r>
                      <a:r>
                        <a:rPr lang="en-US" sz="800">
                          <a:solidFill>
                            <a:srgbClr val="000000"/>
                          </a:solidFill>
                          <a:latin typeface="Arimo"/>
                          <a:ea typeface="Arimo"/>
                          <a:cs typeface="Arimo"/>
                          <a:sym typeface="Arimo"/>
                        </a:rPr>
                        <a:t>Remote Access: Cloud and app enable monitoring from anywhere.</a:t>
                      </a:r>
                    </a:p>
                    <a:p>
                      <a:pPr algn="l">
                        <a:lnSpc>
                          <a:spcPts val="1120"/>
                        </a:lnSpc>
                      </a:pPr>
                      <a:r>
                        <a:rPr lang="en-US" sz="800">
                          <a:solidFill>
                            <a:srgbClr val="000000"/>
                          </a:solidFill>
                          <a:latin typeface="Arimo"/>
                          <a:ea typeface="Arimo"/>
                          <a:cs typeface="Arimo"/>
                          <a:sym typeface="Arimo"/>
                        </a:rPr>
                        <a:t>-</a:t>
                      </a:r>
                      <a:r>
                        <a:rPr lang="en-US" sz="800">
                          <a:solidFill>
                            <a:srgbClr val="000000"/>
                          </a:solidFill>
                          <a:latin typeface="Arimo"/>
                          <a:ea typeface="Arimo"/>
                          <a:cs typeface="Arimo"/>
                          <a:sym typeface="Arimo"/>
                        </a:rPr>
                        <a:t>Cost-Effective: Low operational costs and energy-efficient.</a:t>
                      </a:r>
                    </a:p>
                    <a:p>
                      <a:pPr algn="l">
                        <a:lnSpc>
                          <a:spcPts val="1120"/>
                        </a:lnSpc>
                      </a:pPr>
                    </a:p>
                  </a:txBody>
                  <a:tcPr marL="57150" marR="57150" marT="57150" marB="57150" anchor="ctr">
                    <a:lnL cmpd="sng" algn="ctr" cap="flat" w="8467">
                      <a:solidFill>
                        <a:srgbClr val="000000"/>
                      </a:solidFill>
                      <a:prstDash val="solid"/>
                      <a:round/>
                      <a:headEnd type="none" w="med" len="med"/>
                      <a:tailEnd type="none" w="med" len="med"/>
                    </a:lnL>
                    <a:lnR cmpd="sng" algn="ctr" cap="flat" w="8467">
                      <a:solidFill>
                        <a:srgbClr val="000000"/>
                      </a:solidFill>
                      <a:prstDash val="solid"/>
                      <a:round/>
                      <a:headEnd type="none" w="med" len="med"/>
                      <a:tailEnd type="none" w="med" len="med"/>
                    </a:lnR>
                    <a:lnT cmpd="sng" algn="ctr" cap="flat" w="8467">
                      <a:solidFill>
                        <a:srgbClr val="000000"/>
                      </a:solidFill>
                      <a:prstDash val="solid"/>
                      <a:round/>
                      <a:headEnd type="none" w="med" len="med"/>
                      <a:tailEnd type="none" w="med" len="med"/>
                    </a:lnT>
                    <a:lnB cmpd="sng" algn="ctr" cap="flat" w="8467">
                      <a:solidFill>
                        <a:srgbClr val="000000"/>
                      </a:solidFill>
                      <a:prstDash val="solid"/>
                      <a:round/>
                      <a:headEnd type="none" w="med" len="med"/>
                      <a:tailEnd type="none" w="med" len="med"/>
                    </a:lnB>
                    <a:solidFill>
                      <a:srgbClr val="FEFEFE"/>
                    </a:solidFill>
                  </a:tcPr>
                </a:tc>
                <a:tc>
                  <a:txBody>
                    <a:bodyPr anchor="t" rtlCol="false"/>
                    <a:lstStyle/>
                    <a:p>
                      <a:pPr algn="l">
                        <a:lnSpc>
                          <a:spcPts val="1120"/>
                        </a:lnSpc>
                        <a:defRPr/>
                      </a:pPr>
                      <a:r>
                        <a:rPr lang="en-US" sz="800">
                          <a:solidFill>
                            <a:srgbClr val="000000"/>
                          </a:solidFill>
                          <a:latin typeface="Arimo"/>
                          <a:ea typeface="Arimo"/>
                          <a:cs typeface="Arimo"/>
                          <a:sym typeface="Arimo"/>
                        </a:rPr>
                        <a:t>-Dependence on Connectivity: Requires stable internet for cloud/app functionality.</a:t>
                      </a:r>
                      <a:endParaRPr lang="en-US" sz="1100"/>
                    </a:p>
                    <a:p>
                      <a:pPr algn="l">
                        <a:lnSpc>
                          <a:spcPts val="1120"/>
                        </a:lnSpc>
                      </a:pPr>
                      <a:r>
                        <a:rPr lang="en-US" sz="800">
                          <a:solidFill>
                            <a:srgbClr val="000000"/>
                          </a:solidFill>
                          <a:latin typeface="Arimo"/>
                          <a:ea typeface="Arimo"/>
                          <a:cs typeface="Arimo"/>
                          <a:sym typeface="Arimo"/>
                        </a:rPr>
                        <a:t>-</a:t>
                      </a:r>
                      <a:r>
                        <a:rPr lang="en-US" sz="800">
                          <a:solidFill>
                            <a:srgbClr val="000000"/>
                          </a:solidFill>
                          <a:latin typeface="Arimo"/>
                          <a:ea typeface="Arimo"/>
                          <a:cs typeface="Arimo"/>
                          <a:sym typeface="Arimo"/>
                        </a:rPr>
                        <a:t>Initial Setup Cost: Hardware (sensors, Arduino) may be expensive for small-scale farmers.</a:t>
                      </a:r>
                    </a:p>
                    <a:p>
                      <a:pPr algn="l">
                        <a:lnSpc>
                          <a:spcPts val="1120"/>
                        </a:lnSpc>
                      </a:pPr>
                      <a:r>
                        <a:rPr lang="en-US" sz="800">
                          <a:solidFill>
                            <a:srgbClr val="000000"/>
                          </a:solidFill>
                          <a:latin typeface="Arimo"/>
                          <a:ea typeface="Arimo"/>
                          <a:cs typeface="Arimo"/>
                          <a:sym typeface="Arimo"/>
                        </a:rPr>
                        <a:t>-</a:t>
                      </a:r>
                      <a:r>
                        <a:rPr lang="en-US" sz="800">
                          <a:solidFill>
                            <a:srgbClr val="000000"/>
                          </a:solidFill>
                          <a:latin typeface="Arimo"/>
                          <a:ea typeface="Arimo"/>
                          <a:cs typeface="Arimo"/>
                          <a:sym typeface="Arimo"/>
                        </a:rPr>
                        <a:t>Maintenance: Sensors need calibration; system may fail if not maintained.</a:t>
                      </a:r>
                    </a:p>
                    <a:p>
                      <a:pPr algn="l">
                        <a:lnSpc>
                          <a:spcPts val="1120"/>
                        </a:lnSpc>
                      </a:pPr>
                    </a:p>
                  </a:txBody>
                  <a:tcPr marL="57150" marR="57150" marT="57150" marB="57150" anchor="ctr">
                    <a:lnL cmpd="sng" algn="ctr" cap="flat" w="8467">
                      <a:solidFill>
                        <a:srgbClr val="000000"/>
                      </a:solidFill>
                      <a:prstDash val="solid"/>
                      <a:round/>
                      <a:headEnd type="none" w="med" len="med"/>
                      <a:tailEnd type="none" w="med" len="med"/>
                    </a:lnL>
                    <a:lnR cmpd="sng" algn="ctr" cap="flat" w="8467">
                      <a:solidFill>
                        <a:srgbClr val="000000"/>
                      </a:solidFill>
                      <a:prstDash val="solid"/>
                      <a:round/>
                      <a:headEnd type="none" w="med" len="med"/>
                      <a:tailEnd type="none" w="med" len="med"/>
                    </a:lnR>
                    <a:lnT cmpd="sng" algn="ctr" cap="flat" w="8467">
                      <a:solidFill>
                        <a:srgbClr val="000000"/>
                      </a:solidFill>
                      <a:prstDash val="solid"/>
                      <a:round/>
                      <a:headEnd type="none" w="med" len="med"/>
                      <a:tailEnd type="none" w="med" len="med"/>
                    </a:lnT>
                    <a:lnB cmpd="sng" algn="ctr" cap="flat" w="8467">
                      <a:solidFill>
                        <a:srgbClr val="000000"/>
                      </a:solidFill>
                      <a:prstDash val="solid"/>
                      <a:round/>
                      <a:headEnd type="none" w="med" len="med"/>
                      <a:tailEnd type="none" w="med" len="med"/>
                    </a:lnB>
                    <a:solidFill>
                      <a:srgbClr val="FEFEFE"/>
                    </a:solidFill>
                  </a:tcPr>
                </a:tc>
                <a:tc>
                  <a:txBody>
                    <a:bodyPr anchor="t" rtlCol="false"/>
                    <a:lstStyle/>
                    <a:p>
                      <a:pPr algn="l">
                        <a:lnSpc>
                          <a:spcPts val="1120"/>
                        </a:lnSpc>
                        <a:defRPr/>
                      </a:pPr>
                      <a:r>
                        <a:rPr lang="en-US" sz="800">
                          <a:solidFill>
                            <a:srgbClr val="000000"/>
                          </a:solidFill>
                          <a:latin typeface="Arimo"/>
                          <a:ea typeface="Arimo"/>
                          <a:cs typeface="Arimo"/>
                          <a:sym typeface="Arimo"/>
                        </a:rPr>
                        <a:t>-Sensors detect deviations → Arduino triggers adjustments (e.g., fan cools if temperature rises).</a:t>
                      </a:r>
                      <a:endParaRPr lang="en-US" sz="1100"/>
                    </a:p>
                    <a:p>
                      <a:pPr algn="l">
                        <a:lnSpc>
                          <a:spcPts val="1120"/>
                        </a:lnSpc>
                      </a:pPr>
                      <a:r>
                        <a:rPr lang="en-US" sz="800">
                          <a:solidFill>
                            <a:srgbClr val="000000"/>
                          </a:solidFill>
                          <a:latin typeface="Arimo"/>
                          <a:ea typeface="Arimo"/>
                          <a:cs typeface="Arimo"/>
                          <a:sym typeface="Arimo"/>
                        </a:rPr>
                        <a:t>-</a:t>
                      </a:r>
                      <a:r>
                        <a:rPr lang="en-US" sz="800">
                          <a:solidFill>
                            <a:srgbClr val="000000"/>
                          </a:solidFill>
                          <a:latin typeface="Arimo"/>
                          <a:ea typeface="Arimo"/>
                          <a:cs typeface="Arimo"/>
                          <a:sym typeface="Arimo"/>
                        </a:rPr>
                        <a:t>Data is logged in the cloud; users override settings via the app.</a:t>
                      </a:r>
                    </a:p>
                    <a:p>
                      <a:pPr algn="l">
                        <a:lnSpc>
                          <a:spcPts val="1120"/>
                        </a:lnSpc>
                      </a:pPr>
                    </a:p>
                  </a:txBody>
                  <a:tcPr marL="57150" marR="57150" marT="57150" marB="57150" anchor="ctr">
                    <a:lnL cmpd="sng" algn="ctr" cap="flat" w="8467">
                      <a:solidFill>
                        <a:srgbClr val="000000"/>
                      </a:solidFill>
                      <a:prstDash val="solid"/>
                      <a:round/>
                      <a:headEnd type="none" w="med" len="med"/>
                      <a:tailEnd type="none" w="med" len="med"/>
                    </a:lnL>
                    <a:lnR cmpd="sng" algn="ctr" cap="flat" w="8467">
                      <a:solidFill>
                        <a:srgbClr val="000000"/>
                      </a:solidFill>
                      <a:prstDash val="solid"/>
                      <a:round/>
                      <a:headEnd type="none" w="med" len="med"/>
                      <a:tailEnd type="none" w="med" len="med"/>
                    </a:lnR>
                    <a:lnT cmpd="sng" algn="ctr" cap="flat" w="8467">
                      <a:solidFill>
                        <a:srgbClr val="000000"/>
                      </a:solidFill>
                      <a:prstDash val="solid"/>
                      <a:round/>
                      <a:headEnd type="none" w="med" len="med"/>
                      <a:tailEnd type="none" w="med" len="med"/>
                    </a:lnT>
                    <a:lnB cmpd="sng" algn="ctr" cap="flat" w="8467">
                      <a:solidFill>
                        <a:srgbClr val="000000"/>
                      </a:solidFill>
                      <a:prstDash val="solid"/>
                      <a:round/>
                      <a:headEnd type="none" w="med" len="med"/>
                      <a:tailEnd type="none" w="med" len="med"/>
                    </a:lnB>
                    <a:solidFill>
                      <a:srgbClr val="FEFEFE"/>
                    </a:solidFill>
                  </a:tcPr>
                </a:tc>
              </a:tr>
            </a:tbl>
          </a:graphicData>
        </a:graphic>
      </p:graphicFrame>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3F3FF">
                <a:alpha val="31373"/>
              </a:srgbClr>
            </a:solidFill>
          </p:spPr>
        </p:sp>
      </p:grpSp>
      <p:grpSp>
        <p:nvGrpSpPr>
          <p:cNvPr name="Group 6" id="6"/>
          <p:cNvGrpSpPr/>
          <p:nvPr/>
        </p:nvGrpSpPr>
        <p:grpSpPr>
          <a:xfrm rot="0">
            <a:off x="1028700" y="1026468"/>
            <a:ext cx="8693725" cy="1153474"/>
            <a:chOff x="0" y="0"/>
            <a:chExt cx="11591633" cy="1537966"/>
          </a:xfrm>
        </p:grpSpPr>
        <p:sp>
          <p:nvSpPr>
            <p:cNvPr name="Freeform 7" id="7"/>
            <p:cNvSpPr/>
            <p:nvPr/>
          </p:nvSpPr>
          <p:spPr>
            <a:xfrm flipH="false" flipV="false" rot="0">
              <a:off x="0" y="0"/>
              <a:ext cx="11591634" cy="1537966"/>
            </a:xfrm>
            <a:custGeom>
              <a:avLst/>
              <a:gdLst/>
              <a:ahLst/>
              <a:cxnLst/>
              <a:rect r="r" b="b" t="t" l="l"/>
              <a:pathLst>
                <a:path h="1537966" w="11591634">
                  <a:moveTo>
                    <a:pt x="0" y="0"/>
                  </a:moveTo>
                  <a:lnTo>
                    <a:pt x="11591634" y="0"/>
                  </a:lnTo>
                  <a:lnTo>
                    <a:pt x="11591634" y="1537966"/>
                  </a:lnTo>
                  <a:lnTo>
                    <a:pt x="0" y="1537966"/>
                  </a:lnTo>
                  <a:close/>
                </a:path>
              </a:pathLst>
            </a:custGeom>
            <a:solidFill>
              <a:srgbClr val="000000">
                <a:alpha val="0"/>
              </a:srgbClr>
            </a:solidFill>
          </p:spPr>
        </p:sp>
        <p:sp>
          <p:nvSpPr>
            <p:cNvPr name="TextBox 8" id="8"/>
            <p:cNvSpPr txBox="true"/>
            <p:nvPr/>
          </p:nvSpPr>
          <p:spPr>
            <a:xfrm>
              <a:off x="0" y="-38100"/>
              <a:ext cx="11591633" cy="1576066"/>
            </a:xfrm>
            <a:prstGeom prst="rect">
              <a:avLst/>
            </a:prstGeom>
          </p:spPr>
          <p:txBody>
            <a:bodyPr anchor="t" rtlCol="false" tIns="0" lIns="0" bIns="0" rIns="0"/>
            <a:lstStyle/>
            <a:p>
              <a:pPr algn="l">
                <a:lnSpc>
                  <a:spcPts val="6951"/>
                </a:lnSpc>
              </a:pPr>
              <a:r>
                <a:rPr lang="en-US" sz="5498" b="true">
                  <a:solidFill>
                    <a:srgbClr val="00002E"/>
                  </a:solidFill>
                  <a:latin typeface="Nunito Bold"/>
                  <a:ea typeface="Nunito Bold"/>
                  <a:cs typeface="Nunito Bold"/>
                  <a:sym typeface="Nunito Bold"/>
                </a:rPr>
                <a:t>Testing and Results</a:t>
              </a:r>
            </a:p>
          </p:txBody>
        </p:sp>
      </p:grpSp>
      <p:grpSp>
        <p:nvGrpSpPr>
          <p:cNvPr name="Group 9" id="9"/>
          <p:cNvGrpSpPr/>
          <p:nvPr/>
        </p:nvGrpSpPr>
        <p:grpSpPr>
          <a:xfrm rot="0">
            <a:off x="1028700" y="2475624"/>
            <a:ext cx="16564867" cy="652451"/>
            <a:chOff x="0" y="0"/>
            <a:chExt cx="22086489" cy="869935"/>
          </a:xfrm>
        </p:grpSpPr>
        <p:sp>
          <p:nvSpPr>
            <p:cNvPr name="Freeform 10" id="10"/>
            <p:cNvSpPr/>
            <p:nvPr/>
          </p:nvSpPr>
          <p:spPr>
            <a:xfrm flipH="false" flipV="false" rot="0">
              <a:off x="0" y="0"/>
              <a:ext cx="22086489" cy="869935"/>
            </a:xfrm>
            <a:custGeom>
              <a:avLst/>
              <a:gdLst/>
              <a:ahLst/>
              <a:cxnLst/>
              <a:rect r="r" b="b" t="t" l="l"/>
              <a:pathLst>
                <a:path h="869935" w="22086489">
                  <a:moveTo>
                    <a:pt x="0" y="0"/>
                  </a:moveTo>
                  <a:lnTo>
                    <a:pt x="22086489" y="0"/>
                  </a:lnTo>
                  <a:lnTo>
                    <a:pt x="22086489" y="869935"/>
                  </a:lnTo>
                  <a:lnTo>
                    <a:pt x="0" y="869935"/>
                  </a:lnTo>
                  <a:close/>
                </a:path>
              </a:pathLst>
            </a:custGeom>
            <a:solidFill>
              <a:srgbClr val="000000">
                <a:alpha val="0"/>
              </a:srgbClr>
            </a:solidFill>
          </p:spPr>
        </p:sp>
        <p:sp>
          <p:nvSpPr>
            <p:cNvPr name="TextBox 11" id="11"/>
            <p:cNvSpPr txBox="true"/>
            <p:nvPr/>
          </p:nvSpPr>
          <p:spPr>
            <a:xfrm>
              <a:off x="0" y="-114300"/>
              <a:ext cx="22086489" cy="984235"/>
            </a:xfrm>
            <a:prstGeom prst="rect">
              <a:avLst/>
            </a:prstGeom>
          </p:spPr>
          <p:txBody>
            <a:bodyPr anchor="t" rtlCol="false" tIns="0" lIns="0" bIns="0" rIns="0"/>
            <a:lstStyle/>
            <a:p>
              <a:pPr algn="l">
                <a:lnSpc>
                  <a:spcPts val="4894"/>
                </a:lnSpc>
              </a:pPr>
              <a:r>
                <a:rPr lang="en-US" sz="3000">
                  <a:solidFill>
                    <a:srgbClr val="00002E"/>
                  </a:solidFill>
                  <a:latin typeface="PT Sans"/>
                  <a:ea typeface="PT Sans"/>
                  <a:cs typeface="PT Sans"/>
                  <a:sym typeface="PT Sans"/>
                </a:rPr>
                <a:t>Performance: The system effectively monitors and controls the greenhouse environment.</a:t>
              </a:r>
            </a:p>
          </p:txBody>
        </p:sp>
      </p:grpSp>
      <p:grpSp>
        <p:nvGrpSpPr>
          <p:cNvPr name="Group 12" id="12"/>
          <p:cNvGrpSpPr/>
          <p:nvPr/>
        </p:nvGrpSpPr>
        <p:grpSpPr>
          <a:xfrm rot="0">
            <a:off x="1028700" y="3042350"/>
            <a:ext cx="16564867" cy="652451"/>
            <a:chOff x="0" y="0"/>
            <a:chExt cx="22086489" cy="869935"/>
          </a:xfrm>
        </p:grpSpPr>
        <p:sp>
          <p:nvSpPr>
            <p:cNvPr name="Freeform 13" id="13"/>
            <p:cNvSpPr/>
            <p:nvPr/>
          </p:nvSpPr>
          <p:spPr>
            <a:xfrm flipH="false" flipV="false" rot="0">
              <a:off x="0" y="0"/>
              <a:ext cx="22086489" cy="869935"/>
            </a:xfrm>
            <a:custGeom>
              <a:avLst/>
              <a:gdLst/>
              <a:ahLst/>
              <a:cxnLst/>
              <a:rect r="r" b="b" t="t" l="l"/>
              <a:pathLst>
                <a:path h="869935" w="22086489">
                  <a:moveTo>
                    <a:pt x="0" y="0"/>
                  </a:moveTo>
                  <a:lnTo>
                    <a:pt x="22086489" y="0"/>
                  </a:lnTo>
                  <a:lnTo>
                    <a:pt x="22086489" y="869935"/>
                  </a:lnTo>
                  <a:lnTo>
                    <a:pt x="0" y="869935"/>
                  </a:lnTo>
                  <a:close/>
                </a:path>
              </a:pathLst>
            </a:custGeom>
            <a:solidFill>
              <a:srgbClr val="000000">
                <a:alpha val="0"/>
              </a:srgbClr>
            </a:solidFill>
          </p:spPr>
        </p:sp>
        <p:sp>
          <p:nvSpPr>
            <p:cNvPr name="TextBox 14" id="14"/>
            <p:cNvSpPr txBox="true"/>
            <p:nvPr/>
          </p:nvSpPr>
          <p:spPr>
            <a:xfrm>
              <a:off x="0" y="-114300"/>
              <a:ext cx="22086489" cy="984235"/>
            </a:xfrm>
            <a:prstGeom prst="rect">
              <a:avLst/>
            </a:prstGeom>
          </p:spPr>
          <p:txBody>
            <a:bodyPr anchor="t" rtlCol="false" tIns="0" lIns="0" bIns="0" rIns="0"/>
            <a:lstStyle/>
            <a:p>
              <a:pPr algn="l">
                <a:lnSpc>
                  <a:spcPts val="4894"/>
                </a:lnSpc>
              </a:pPr>
              <a:r>
                <a:rPr lang="en-US" sz="3000">
                  <a:solidFill>
                    <a:srgbClr val="00002E"/>
                  </a:solidFill>
                  <a:latin typeface="PT Sans"/>
                  <a:ea typeface="PT Sans"/>
                  <a:cs typeface="PT Sans"/>
                  <a:sym typeface="PT Sans"/>
                </a:rPr>
                <a:t>Complexity: The algorithms used are efficient with low time and space complexity.</a:t>
              </a:r>
            </a:p>
          </p:txBody>
        </p:sp>
      </p:grpSp>
      <p:grpSp>
        <p:nvGrpSpPr>
          <p:cNvPr name="Group 15" id="15"/>
          <p:cNvGrpSpPr/>
          <p:nvPr/>
        </p:nvGrpSpPr>
        <p:grpSpPr>
          <a:xfrm rot="0">
            <a:off x="1028700" y="3609076"/>
            <a:ext cx="16564867" cy="652451"/>
            <a:chOff x="0" y="0"/>
            <a:chExt cx="22086489" cy="869935"/>
          </a:xfrm>
        </p:grpSpPr>
        <p:sp>
          <p:nvSpPr>
            <p:cNvPr name="Freeform 16" id="16"/>
            <p:cNvSpPr/>
            <p:nvPr/>
          </p:nvSpPr>
          <p:spPr>
            <a:xfrm flipH="false" flipV="false" rot="0">
              <a:off x="0" y="0"/>
              <a:ext cx="22086489" cy="869935"/>
            </a:xfrm>
            <a:custGeom>
              <a:avLst/>
              <a:gdLst/>
              <a:ahLst/>
              <a:cxnLst/>
              <a:rect r="r" b="b" t="t" l="l"/>
              <a:pathLst>
                <a:path h="869935" w="22086489">
                  <a:moveTo>
                    <a:pt x="0" y="0"/>
                  </a:moveTo>
                  <a:lnTo>
                    <a:pt x="22086489" y="0"/>
                  </a:lnTo>
                  <a:lnTo>
                    <a:pt x="22086489" y="869935"/>
                  </a:lnTo>
                  <a:lnTo>
                    <a:pt x="0" y="869935"/>
                  </a:lnTo>
                  <a:close/>
                </a:path>
              </a:pathLst>
            </a:custGeom>
            <a:solidFill>
              <a:srgbClr val="000000">
                <a:alpha val="0"/>
              </a:srgbClr>
            </a:solidFill>
          </p:spPr>
        </p:sp>
        <p:sp>
          <p:nvSpPr>
            <p:cNvPr name="TextBox 17" id="17"/>
            <p:cNvSpPr txBox="true"/>
            <p:nvPr/>
          </p:nvSpPr>
          <p:spPr>
            <a:xfrm>
              <a:off x="0" y="-114300"/>
              <a:ext cx="22086489" cy="984235"/>
            </a:xfrm>
            <a:prstGeom prst="rect">
              <a:avLst/>
            </a:prstGeom>
          </p:spPr>
          <p:txBody>
            <a:bodyPr anchor="t" rtlCol="false" tIns="0" lIns="0" bIns="0" rIns="0"/>
            <a:lstStyle/>
            <a:p>
              <a:pPr algn="l">
                <a:lnSpc>
                  <a:spcPts val="4894"/>
                </a:lnSpc>
              </a:pPr>
              <a:r>
                <a:rPr lang="en-US" sz="3000">
                  <a:solidFill>
                    <a:srgbClr val="00002E"/>
                  </a:solidFill>
                  <a:latin typeface="PT Sans"/>
                  <a:ea typeface="PT Sans"/>
                  <a:cs typeface="PT Sans"/>
                  <a:sym typeface="PT Sans"/>
                </a:rPr>
                <a:t>Robustness: The system is reliable and can handle variations in environmental conditions</a:t>
              </a:r>
            </a:p>
          </p:txBody>
        </p:sp>
      </p:grpSp>
      <p:graphicFrame>
        <p:nvGraphicFramePr>
          <p:cNvPr name="Table 18" id="18"/>
          <p:cNvGraphicFramePr>
            <a:graphicFrameLocks noGrp="true"/>
          </p:cNvGraphicFramePr>
          <p:nvPr/>
        </p:nvGraphicFramePr>
        <p:xfrm>
          <a:off x="3588412" y="4737777"/>
          <a:ext cx="9221805" cy="4445284"/>
        </p:xfrm>
        <a:graphic>
          <a:graphicData uri="http://schemas.openxmlformats.org/drawingml/2006/table">
            <a:tbl>
              <a:tblPr/>
              <a:tblGrid>
                <a:gridCol w="3073935"/>
                <a:gridCol w="3073935"/>
                <a:gridCol w="3073935"/>
              </a:tblGrid>
              <a:tr h="889057">
                <a:tc>
                  <a:txBody>
                    <a:bodyPr anchor="t" rtlCol="false"/>
                    <a:lstStyle/>
                    <a:p>
                      <a:pPr algn="ctr">
                        <a:lnSpc>
                          <a:spcPts val="1260"/>
                        </a:lnSpc>
                        <a:defRPr/>
                      </a:pPr>
                      <a:r>
                        <a:rPr lang="en-US" sz="900">
                          <a:solidFill>
                            <a:srgbClr val="FEFEFE"/>
                          </a:solidFill>
                          <a:latin typeface="Canva Sans"/>
                          <a:ea typeface="Canva Sans"/>
                          <a:cs typeface="Canva Sans"/>
                          <a:sym typeface="Canva Sans"/>
                        </a:rPr>
                        <a:t>Parameter</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577686"/>
                    </a:solidFill>
                  </a:tcPr>
                </a:tc>
                <a:tc>
                  <a:txBody>
                    <a:bodyPr anchor="t" rtlCol="false"/>
                    <a:lstStyle/>
                    <a:p>
                      <a:pPr algn="ctr">
                        <a:lnSpc>
                          <a:spcPts val="1260"/>
                        </a:lnSpc>
                        <a:defRPr/>
                      </a:pPr>
                      <a:r>
                        <a:rPr lang="en-US" sz="900">
                          <a:solidFill>
                            <a:srgbClr val="FEFEFE"/>
                          </a:solidFill>
                          <a:latin typeface="Canva Sans"/>
                          <a:ea typeface="Canva Sans"/>
                          <a:cs typeface="Canva Sans"/>
                          <a:sym typeface="Canva Sans"/>
                        </a:rPr>
                        <a:t>Measured Value</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577686"/>
                    </a:solidFill>
                  </a:tcPr>
                </a:tc>
                <a:tc>
                  <a:txBody>
                    <a:bodyPr anchor="t" rtlCol="false"/>
                    <a:lstStyle/>
                    <a:p>
                      <a:pPr algn="ctr">
                        <a:lnSpc>
                          <a:spcPts val="1260"/>
                        </a:lnSpc>
                        <a:defRPr/>
                      </a:pPr>
                      <a:r>
                        <a:rPr lang="en-US" sz="900">
                          <a:solidFill>
                            <a:srgbClr val="FEFEFE"/>
                          </a:solidFill>
                          <a:latin typeface="Canva Sans"/>
                          <a:ea typeface="Canva Sans"/>
                          <a:cs typeface="Canva Sans"/>
                          <a:sym typeface="Canva Sans"/>
                        </a:rPr>
                        <a:t>Control Action</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577686"/>
                    </a:solidFill>
                  </a:tcPr>
                </a:tc>
              </a:tr>
              <a:tr h="889057">
                <a:tc>
                  <a:txBody>
                    <a:bodyPr anchor="t" rtlCol="false"/>
                    <a:lstStyle/>
                    <a:p>
                      <a:pPr algn="l">
                        <a:lnSpc>
                          <a:spcPts val="1260"/>
                        </a:lnSpc>
                        <a:defRPr/>
                      </a:pPr>
                      <a:r>
                        <a:rPr lang="en-US" sz="900">
                          <a:solidFill>
                            <a:srgbClr val="000000"/>
                          </a:solidFill>
                          <a:latin typeface="Canva Sans"/>
                          <a:ea typeface="Canva Sans"/>
                          <a:cs typeface="Canva Sans"/>
                          <a:sym typeface="Canva Sans"/>
                        </a:rPr>
                        <a:t>Temperature</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D9D9D9"/>
                    </a:solidFill>
                  </a:tcPr>
                </a:tc>
                <a:tc>
                  <a:txBody>
                    <a:bodyPr anchor="t" rtlCol="false"/>
                    <a:lstStyle/>
                    <a:p>
                      <a:pPr algn="ctr">
                        <a:lnSpc>
                          <a:spcPts val="1260"/>
                        </a:lnSpc>
                        <a:defRPr/>
                      </a:pPr>
                      <a:r>
                        <a:rPr lang="en-US" sz="900">
                          <a:solidFill>
                            <a:srgbClr val="000000"/>
                          </a:solidFill>
                          <a:latin typeface="Canva Sans"/>
                          <a:ea typeface="Canva Sans"/>
                          <a:cs typeface="Canva Sans"/>
                          <a:sym typeface="Canva Sans"/>
                        </a:rPr>
                        <a:t>25°C</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260"/>
                        </a:lnSpc>
                        <a:defRPr/>
                      </a:pPr>
                      <a:r>
                        <a:rPr lang="en-US" sz="900">
                          <a:solidFill>
                            <a:srgbClr val="000000"/>
                          </a:solidFill>
                          <a:latin typeface="Canva Sans"/>
                          <a:ea typeface="Canva Sans"/>
                          <a:cs typeface="Canva Sans"/>
                          <a:sym typeface="Canva Sans"/>
                        </a:rPr>
                        <a:t>None</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89057">
                <a:tc>
                  <a:txBody>
                    <a:bodyPr anchor="t" rtlCol="false"/>
                    <a:lstStyle/>
                    <a:p>
                      <a:pPr algn="just">
                        <a:lnSpc>
                          <a:spcPts val="1260"/>
                        </a:lnSpc>
                        <a:defRPr/>
                      </a:pPr>
                      <a:r>
                        <a:rPr lang="en-US" sz="900">
                          <a:solidFill>
                            <a:srgbClr val="000000"/>
                          </a:solidFill>
                          <a:latin typeface="Canva Sans"/>
                          <a:ea typeface="Canva Sans"/>
                          <a:cs typeface="Canva Sans"/>
                          <a:sym typeface="Canva Sans"/>
                        </a:rPr>
                        <a:t>Light Intensity</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D9D9D9"/>
                    </a:solidFill>
                  </a:tcPr>
                </a:tc>
                <a:tc>
                  <a:txBody>
                    <a:bodyPr anchor="t" rtlCol="false"/>
                    <a:lstStyle/>
                    <a:p>
                      <a:pPr algn="ctr">
                        <a:lnSpc>
                          <a:spcPts val="1260"/>
                        </a:lnSpc>
                        <a:defRPr/>
                      </a:pPr>
                      <a:r>
                        <a:rPr lang="en-US" sz="900">
                          <a:solidFill>
                            <a:srgbClr val="000000"/>
                          </a:solidFill>
                          <a:latin typeface="Canva Sans"/>
                          <a:ea typeface="Canva Sans"/>
                          <a:cs typeface="Canva Sans"/>
                          <a:sym typeface="Canva Sans"/>
                        </a:rPr>
                        <a:t>20%</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260"/>
                        </a:lnSpc>
                        <a:defRPr/>
                      </a:pPr>
                      <a:r>
                        <a:rPr lang="en-US" sz="900">
                          <a:solidFill>
                            <a:srgbClr val="000000"/>
                          </a:solidFill>
                          <a:latin typeface="Canva Sans"/>
                          <a:ea typeface="Canva Sans"/>
                          <a:cs typeface="Canva Sans"/>
                          <a:sym typeface="Canva Sans"/>
                        </a:rPr>
                        <a:t>Light ON</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89057">
                <a:tc>
                  <a:txBody>
                    <a:bodyPr anchor="t" rtlCol="false"/>
                    <a:lstStyle/>
                    <a:p>
                      <a:pPr algn="l">
                        <a:lnSpc>
                          <a:spcPts val="1260"/>
                        </a:lnSpc>
                        <a:defRPr/>
                      </a:pPr>
                      <a:r>
                        <a:rPr lang="en-US" sz="900">
                          <a:solidFill>
                            <a:srgbClr val="000000"/>
                          </a:solidFill>
                          <a:latin typeface="Canva Sans"/>
                          <a:ea typeface="Canva Sans"/>
                          <a:cs typeface="Canva Sans"/>
                          <a:sym typeface="Canva Sans"/>
                        </a:rPr>
                        <a:t>Soil Moisture</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D9D9D9"/>
                    </a:solidFill>
                  </a:tcPr>
                </a:tc>
                <a:tc>
                  <a:txBody>
                    <a:bodyPr anchor="t" rtlCol="false"/>
                    <a:lstStyle/>
                    <a:p>
                      <a:pPr algn="ctr">
                        <a:lnSpc>
                          <a:spcPts val="1260"/>
                        </a:lnSpc>
                        <a:defRPr/>
                      </a:pPr>
                      <a:r>
                        <a:rPr lang="en-US" sz="900">
                          <a:solidFill>
                            <a:srgbClr val="000000"/>
                          </a:solidFill>
                          <a:latin typeface="Canva Sans"/>
                          <a:ea typeface="Canva Sans"/>
                          <a:cs typeface="Canva Sans"/>
                          <a:sym typeface="Canva Sans"/>
                        </a:rPr>
                        <a:t>35%</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260"/>
                        </a:lnSpc>
                        <a:defRPr/>
                      </a:pPr>
                      <a:r>
                        <a:rPr lang="en-US" sz="900">
                          <a:solidFill>
                            <a:srgbClr val="000000"/>
                          </a:solidFill>
                          <a:latin typeface="Canva Sans"/>
                          <a:ea typeface="Canva Sans"/>
                          <a:cs typeface="Canva Sans"/>
                          <a:sym typeface="Canva Sans"/>
                        </a:rPr>
                        <a:t>Pump ON</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89057">
                <a:tc>
                  <a:txBody>
                    <a:bodyPr anchor="t" rtlCol="false"/>
                    <a:lstStyle/>
                    <a:p>
                      <a:pPr algn="l">
                        <a:lnSpc>
                          <a:spcPts val="1260"/>
                        </a:lnSpc>
                        <a:defRPr/>
                      </a:pPr>
                      <a:r>
                        <a:rPr lang="en-US" sz="900">
                          <a:solidFill>
                            <a:srgbClr val="000000"/>
                          </a:solidFill>
                          <a:latin typeface="Canva Sans"/>
                          <a:ea typeface="Canva Sans"/>
                          <a:cs typeface="Canva Sans"/>
                          <a:sym typeface="Canva Sans"/>
                        </a:rPr>
                        <a:t>Humidity</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D9D9D9"/>
                    </a:solidFill>
                  </a:tcPr>
                </a:tc>
                <a:tc>
                  <a:txBody>
                    <a:bodyPr anchor="t" rtlCol="false"/>
                    <a:lstStyle/>
                    <a:p>
                      <a:pPr algn="ctr">
                        <a:lnSpc>
                          <a:spcPts val="1260"/>
                        </a:lnSpc>
                        <a:defRPr/>
                      </a:pPr>
                      <a:r>
                        <a:rPr lang="en-US" sz="900">
                          <a:solidFill>
                            <a:srgbClr val="000000"/>
                          </a:solidFill>
                          <a:latin typeface="Canva Sans"/>
                          <a:ea typeface="Canva Sans"/>
                          <a:cs typeface="Canva Sans"/>
                          <a:sym typeface="Canva Sans"/>
                        </a:rPr>
                        <a:t>60%</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260"/>
                        </a:lnSpc>
                        <a:defRPr/>
                      </a:pPr>
                      <a:r>
                        <a:rPr lang="en-US" sz="900">
                          <a:solidFill>
                            <a:srgbClr val="000000"/>
                          </a:solidFill>
                          <a:latin typeface="Canva Sans"/>
                          <a:ea typeface="Canva Sans"/>
                          <a:cs typeface="Canva Sans"/>
                          <a:sym typeface="Canva Sans"/>
                        </a:rPr>
                        <a:t>None</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3F3FF">
                <a:alpha val="31373"/>
              </a:srgbClr>
            </a:solidFill>
          </p:spPr>
        </p:sp>
      </p:grpSp>
      <p:grpSp>
        <p:nvGrpSpPr>
          <p:cNvPr name="Group 6" id="6"/>
          <p:cNvGrpSpPr/>
          <p:nvPr/>
        </p:nvGrpSpPr>
        <p:grpSpPr>
          <a:xfrm rot="0">
            <a:off x="1143000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4"/>
              <a:stretch>
                <a:fillRect l="0" t="0" r="0" b="0"/>
              </a:stretch>
            </a:blipFill>
          </p:spPr>
        </p:sp>
      </p:grpSp>
      <p:grpSp>
        <p:nvGrpSpPr>
          <p:cNvPr name="Group 8" id="8"/>
          <p:cNvGrpSpPr/>
          <p:nvPr/>
        </p:nvGrpSpPr>
        <p:grpSpPr>
          <a:xfrm rot="0">
            <a:off x="1028700" y="1014413"/>
            <a:ext cx="6346477" cy="1144251"/>
            <a:chOff x="0" y="0"/>
            <a:chExt cx="8461969" cy="1525669"/>
          </a:xfrm>
        </p:grpSpPr>
        <p:sp>
          <p:nvSpPr>
            <p:cNvPr name="Freeform 9" id="9"/>
            <p:cNvSpPr/>
            <p:nvPr/>
          </p:nvSpPr>
          <p:spPr>
            <a:xfrm flipH="false" flipV="false" rot="0">
              <a:off x="0" y="0"/>
              <a:ext cx="8461970" cy="1525669"/>
            </a:xfrm>
            <a:custGeom>
              <a:avLst/>
              <a:gdLst/>
              <a:ahLst/>
              <a:cxnLst/>
              <a:rect r="r" b="b" t="t" l="l"/>
              <a:pathLst>
                <a:path h="1525669" w="8461970">
                  <a:moveTo>
                    <a:pt x="0" y="0"/>
                  </a:moveTo>
                  <a:lnTo>
                    <a:pt x="8461970" y="0"/>
                  </a:lnTo>
                  <a:lnTo>
                    <a:pt x="8461970" y="1525669"/>
                  </a:lnTo>
                  <a:lnTo>
                    <a:pt x="0" y="1525669"/>
                  </a:lnTo>
                  <a:close/>
                </a:path>
              </a:pathLst>
            </a:custGeom>
            <a:solidFill>
              <a:srgbClr val="000000">
                <a:alpha val="0"/>
              </a:srgbClr>
            </a:solidFill>
          </p:spPr>
        </p:sp>
        <p:sp>
          <p:nvSpPr>
            <p:cNvPr name="TextBox 10" id="10"/>
            <p:cNvSpPr txBox="true"/>
            <p:nvPr/>
          </p:nvSpPr>
          <p:spPr>
            <a:xfrm>
              <a:off x="0" y="-28575"/>
              <a:ext cx="8461969" cy="1554244"/>
            </a:xfrm>
            <a:prstGeom prst="rect">
              <a:avLst/>
            </a:prstGeom>
          </p:spPr>
          <p:txBody>
            <a:bodyPr anchor="t" rtlCol="false" tIns="0" lIns="0" bIns="0" rIns="0"/>
            <a:lstStyle/>
            <a:p>
              <a:pPr algn="l">
                <a:lnSpc>
                  <a:spcPts val="6892"/>
                </a:lnSpc>
              </a:pPr>
              <a:r>
                <a:rPr lang="en-US" sz="5498" b="true">
                  <a:solidFill>
                    <a:srgbClr val="00002E"/>
                  </a:solidFill>
                  <a:latin typeface="Nunito Bold"/>
                  <a:ea typeface="Nunito Bold"/>
                  <a:cs typeface="Nunito Bold"/>
                  <a:sym typeface="Nunito Bold"/>
                </a:rPr>
                <a:t>Conclusion</a:t>
              </a:r>
            </a:p>
          </p:txBody>
        </p:sp>
      </p:grpSp>
      <p:grpSp>
        <p:nvGrpSpPr>
          <p:cNvPr name="Group 11" id="11"/>
          <p:cNvGrpSpPr/>
          <p:nvPr/>
        </p:nvGrpSpPr>
        <p:grpSpPr>
          <a:xfrm rot="0">
            <a:off x="1028700" y="2132918"/>
            <a:ext cx="10025547" cy="3040497"/>
            <a:chOff x="0" y="0"/>
            <a:chExt cx="13367396" cy="4053996"/>
          </a:xfrm>
        </p:grpSpPr>
        <p:sp>
          <p:nvSpPr>
            <p:cNvPr name="Freeform 12" id="12"/>
            <p:cNvSpPr/>
            <p:nvPr/>
          </p:nvSpPr>
          <p:spPr>
            <a:xfrm flipH="false" flipV="false" rot="0">
              <a:off x="0" y="0"/>
              <a:ext cx="13367396" cy="4053996"/>
            </a:xfrm>
            <a:custGeom>
              <a:avLst/>
              <a:gdLst/>
              <a:ahLst/>
              <a:cxnLst/>
              <a:rect r="r" b="b" t="t" l="l"/>
              <a:pathLst>
                <a:path h="4053996" w="13367396">
                  <a:moveTo>
                    <a:pt x="0" y="0"/>
                  </a:moveTo>
                  <a:lnTo>
                    <a:pt x="13367396" y="0"/>
                  </a:lnTo>
                  <a:lnTo>
                    <a:pt x="13367396" y="4053996"/>
                  </a:lnTo>
                  <a:lnTo>
                    <a:pt x="0" y="4053996"/>
                  </a:lnTo>
                  <a:close/>
                </a:path>
              </a:pathLst>
            </a:custGeom>
            <a:solidFill>
              <a:srgbClr val="000000">
                <a:alpha val="0"/>
              </a:srgbClr>
            </a:solidFill>
          </p:spPr>
        </p:sp>
        <p:sp>
          <p:nvSpPr>
            <p:cNvPr name="TextBox 13" id="13"/>
            <p:cNvSpPr txBox="true"/>
            <p:nvPr/>
          </p:nvSpPr>
          <p:spPr>
            <a:xfrm>
              <a:off x="0" y="-104775"/>
              <a:ext cx="13367396" cy="4158771"/>
            </a:xfrm>
            <a:prstGeom prst="rect">
              <a:avLst/>
            </a:prstGeom>
          </p:spPr>
          <p:txBody>
            <a:bodyPr anchor="t" rtlCol="false" tIns="0" lIns="0" bIns="0" rIns="0"/>
            <a:lstStyle/>
            <a:p>
              <a:pPr algn="l">
                <a:lnSpc>
                  <a:spcPts val="4785"/>
                </a:lnSpc>
              </a:pPr>
              <a:r>
                <a:rPr lang="en-US" sz="3000">
                  <a:solidFill>
                    <a:srgbClr val="00002E"/>
                  </a:solidFill>
                  <a:latin typeface="PT Sans"/>
                  <a:ea typeface="PT Sans"/>
                  <a:cs typeface="PT Sans"/>
                  <a:sym typeface="PT Sans"/>
                </a:rPr>
                <a:t>The system successfully automates greenhouse monitoring, reducing dependency on manual checks. Local data display and logging eliminate the need for mobile apps, making it ideal for remote areas. Future iterations could integrate solar power or GSM modules for alerts.</a:t>
              </a:r>
            </a:p>
          </p:txBody>
        </p:sp>
      </p:grpSp>
      <p:grpSp>
        <p:nvGrpSpPr>
          <p:cNvPr name="Group 14" id="14"/>
          <p:cNvGrpSpPr/>
          <p:nvPr/>
        </p:nvGrpSpPr>
        <p:grpSpPr>
          <a:xfrm rot="0">
            <a:off x="944016" y="5378312"/>
            <a:ext cx="6346477" cy="1144251"/>
            <a:chOff x="0" y="0"/>
            <a:chExt cx="8461969" cy="1525669"/>
          </a:xfrm>
        </p:grpSpPr>
        <p:sp>
          <p:nvSpPr>
            <p:cNvPr name="Freeform 15" id="15"/>
            <p:cNvSpPr/>
            <p:nvPr/>
          </p:nvSpPr>
          <p:spPr>
            <a:xfrm flipH="false" flipV="false" rot="0">
              <a:off x="0" y="0"/>
              <a:ext cx="8461970" cy="1525669"/>
            </a:xfrm>
            <a:custGeom>
              <a:avLst/>
              <a:gdLst/>
              <a:ahLst/>
              <a:cxnLst/>
              <a:rect r="r" b="b" t="t" l="l"/>
              <a:pathLst>
                <a:path h="1525669" w="8461970">
                  <a:moveTo>
                    <a:pt x="0" y="0"/>
                  </a:moveTo>
                  <a:lnTo>
                    <a:pt x="8461970" y="0"/>
                  </a:lnTo>
                  <a:lnTo>
                    <a:pt x="8461970" y="1525669"/>
                  </a:lnTo>
                  <a:lnTo>
                    <a:pt x="0" y="1525669"/>
                  </a:lnTo>
                  <a:close/>
                </a:path>
              </a:pathLst>
            </a:custGeom>
            <a:solidFill>
              <a:srgbClr val="000000">
                <a:alpha val="0"/>
              </a:srgbClr>
            </a:solidFill>
          </p:spPr>
        </p:sp>
        <p:sp>
          <p:nvSpPr>
            <p:cNvPr name="TextBox 16" id="16"/>
            <p:cNvSpPr txBox="true"/>
            <p:nvPr/>
          </p:nvSpPr>
          <p:spPr>
            <a:xfrm>
              <a:off x="0" y="-28575"/>
              <a:ext cx="8461969" cy="1554244"/>
            </a:xfrm>
            <a:prstGeom prst="rect">
              <a:avLst/>
            </a:prstGeom>
          </p:spPr>
          <p:txBody>
            <a:bodyPr anchor="t" rtlCol="false" tIns="0" lIns="0" bIns="0" rIns="0"/>
            <a:lstStyle/>
            <a:p>
              <a:pPr algn="l">
                <a:lnSpc>
                  <a:spcPts val="6892"/>
                </a:lnSpc>
              </a:pPr>
              <a:r>
                <a:rPr lang="en-US" sz="5498" b="true">
                  <a:solidFill>
                    <a:srgbClr val="00002E"/>
                  </a:solidFill>
                  <a:latin typeface="Nunito Bold"/>
                  <a:ea typeface="Nunito Bold"/>
                  <a:cs typeface="Nunito Bold"/>
                  <a:sym typeface="Nunito Bold"/>
                </a:rPr>
                <a:t>Future Work</a:t>
              </a:r>
            </a:p>
          </p:txBody>
        </p:sp>
      </p:grpSp>
      <p:grpSp>
        <p:nvGrpSpPr>
          <p:cNvPr name="Group 17" id="17"/>
          <p:cNvGrpSpPr/>
          <p:nvPr/>
        </p:nvGrpSpPr>
        <p:grpSpPr>
          <a:xfrm rot="0">
            <a:off x="944016" y="6663167"/>
            <a:ext cx="10025547" cy="1240204"/>
            <a:chOff x="0" y="0"/>
            <a:chExt cx="13367396" cy="1653606"/>
          </a:xfrm>
        </p:grpSpPr>
        <p:sp>
          <p:nvSpPr>
            <p:cNvPr name="Freeform 18" id="18"/>
            <p:cNvSpPr/>
            <p:nvPr/>
          </p:nvSpPr>
          <p:spPr>
            <a:xfrm flipH="false" flipV="false" rot="0">
              <a:off x="0" y="0"/>
              <a:ext cx="13367396" cy="1653606"/>
            </a:xfrm>
            <a:custGeom>
              <a:avLst/>
              <a:gdLst/>
              <a:ahLst/>
              <a:cxnLst/>
              <a:rect r="r" b="b" t="t" l="l"/>
              <a:pathLst>
                <a:path h="1653606" w="13367396">
                  <a:moveTo>
                    <a:pt x="0" y="0"/>
                  </a:moveTo>
                  <a:lnTo>
                    <a:pt x="13367396" y="0"/>
                  </a:lnTo>
                  <a:lnTo>
                    <a:pt x="13367396" y="1653606"/>
                  </a:lnTo>
                  <a:lnTo>
                    <a:pt x="0" y="1653606"/>
                  </a:lnTo>
                  <a:close/>
                </a:path>
              </a:pathLst>
            </a:custGeom>
            <a:solidFill>
              <a:srgbClr val="000000">
                <a:alpha val="0"/>
              </a:srgbClr>
            </a:solidFill>
          </p:spPr>
        </p:sp>
        <p:sp>
          <p:nvSpPr>
            <p:cNvPr name="TextBox 19" id="19"/>
            <p:cNvSpPr txBox="true"/>
            <p:nvPr/>
          </p:nvSpPr>
          <p:spPr>
            <a:xfrm>
              <a:off x="0" y="-104775"/>
              <a:ext cx="13367396" cy="1758381"/>
            </a:xfrm>
            <a:prstGeom prst="rect">
              <a:avLst/>
            </a:prstGeom>
          </p:spPr>
          <p:txBody>
            <a:bodyPr anchor="t" rtlCol="false" tIns="0" lIns="0" bIns="0" rIns="0"/>
            <a:lstStyle/>
            <a:p>
              <a:pPr algn="l">
                <a:lnSpc>
                  <a:spcPts val="4785"/>
                </a:lnSpc>
              </a:pPr>
              <a:r>
                <a:rPr lang="en-US" sz="3000">
                  <a:solidFill>
                    <a:srgbClr val="00002E"/>
                  </a:solidFill>
                  <a:latin typeface="PT Sans"/>
                  <a:ea typeface="PT Sans"/>
                  <a:cs typeface="PT Sans"/>
                  <a:sym typeface="PT Sans"/>
                </a:rPr>
                <a:t>Wireless Connectivity: Add LoRa or ZigBee for long-range data transmission.</a:t>
              </a:r>
            </a:p>
          </p:txBody>
        </p:sp>
      </p:grpSp>
      <p:grpSp>
        <p:nvGrpSpPr>
          <p:cNvPr name="Group 20" id="20"/>
          <p:cNvGrpSpPr/>
          <p:nvPr/>
        </p:nvGrpSpPr>
        <p:grpSpPr>
          <a:xfrm rot="0">
            <a:off x="944016" y="7824791"/>
            <a:ext cx="10025547" cy="640107"/>
            <a:chOff x="0" y="0"/>
            <a:chExt cx="13367396" cy="853476"/>
          </a:xfrm>
        </p:grpSpPr>
        <p:sp>
          <p:nvSpPr>
            <p:cNvPr name="Freeform 21" id="21"/>
            <p:cNvSpPr/>
            <p:nvPr/>
          </p:nvSpPr>
          <p:spPr>
            <a:xfrm flipH="false" flipV="false" rot="0">
              <a:off x="0" y="0"/>
              <a:ext cx="13367396" cy="853476"/>
            </a:xfrm>
            <a:custGeom>
              <a:avLst/>
              <a:gdLst/>
              <a:ahLst/>
              <a:cxnLst/>
              <a:rect r="r" b="b" t="t" l="l"/>
              <a:pathLst>
                <a:path h="853476" w="13367396">
                  <a:moveTo>
                    <a:pt x="0" y="0"/>
                  </a:moveTo>
                  <a:lnTo>
                    <a:pt x="13367396" y="0"/>
                  </a:lnTo>
                  <a:lnTo>
                    <a:pt x="13367396" y="853476"/>
                  </a:lnTo>
                  <a:lnTo>
                    <a:pt x="0" y="853476"/>
                  </a:lnTo>
                  <a:close/>
                </a:path>
              </a:pathLst>
            </a:custGeom>
            <a:solidFill>
              <a:srgbClr val="000000">
                <a:alpha val="0"/>
              </a:srgbClr>
            </a:solidFill>
          </p:spPr>
        </p:sp>
        <p:sp>
          <p:nvSpPr>
            <p:cNvPr name="TextBox 22" id="22"/>
            <p:cNvSpPr txBox="true"/>
            <p:nvPr/>
          </p:nvSpPr>
          <p:spPr>
            <a:xfrm>
              <a:off x="0" y="-104775"/>
              <a:ext cx="13367396" cy="958251"/>
            </a:xfrm>
            <a:prstGeom prst="rect">
              <a:avLst/>
            </a:prstGeom>
          </p:spPr>
          <p:txBody>
            <a:bodyPr anchor="t" rtlCol="false" tIns="0" lIns="0" bIns="0" rIns="0"/>
            <a:lstStyle/>
            <a:p>
              <a:pPr algn="l">
                <a:lnSpc>
                  <a:spcPts val="4785"/>
                </a:lnSpc>
              </a:pPr>
              <a:r>
                <a:rPr lang="en-US" sz="3000">
                  <a:solidFill>
                    <a:srgbClr val="00002E"/>
                  </a:solidFill>
                  <a:latin typeface="PT Sans"/>
                  <a:ea typeface="PT Sans"/>
                  <a:cs typeface="PT Sans"/>
                  <a:sym typeface="PT Sans"/>
                </a:rPr>
                <a:t>Solar Integration: Power the system using renewable energy.</a:t>
              </a:r>
            </a:p>
          </p:txBody>
        </p:sp>
      </p:grpSp>
      <p:grpSp>
        <p:nvGrpSpPr>
          <p:cNvPr name="Group 23" id="23"/>
          <p:cNvGrpSpPr/>
          <p:nvPr/>
        </p:nvGrpSpPr>
        <p:grpSpPr>
          <a:xfrm rot="0">
            <a:off x="944016" y="8386316"/>
            <a:ext cx="10025547" cy="1240204"/>
            <a:chOff x="0" y="0"/>
            <a:chExt cx="13367396" cy="1653606"/>
          </a:xfrm>
        </p:grpSpPr>
        <p:sp>
          <p:nvSpPr>
            <p:cNvPr name="Freeform 24" id="24"/>
            <p:cNvSpPr/>
            <p:nvPr/>
          </p:nvSpPr>
          <p:spPr>
            <a:xfrm flipH="false" flipV="false" rot="0">
              <a:off x="0" y="0"/>
              <a:ext cx="13367396" cy="1653606"/>
            </a:xfrm>
            <a:custGeom>
              <a:avLst/>
              <a:gdLst/>
              <a:ahLst/>
              <a:cxnLst/>
              <a:rect r="r" b="b" t="t" l="l"/>
              <a:pathLst>
                <a:path h="1653606" w="13367396">
                  <a:moveTo>
                    <a:pt x="0" y="0"/>
                  </a:moveTo>
                  <a:lnTo>
                    <a:pt x="13367396" y="0"/>
                  </a:lnTo>
                  <a:lnTo>
                    <a:pt x="13367396" y="1653606"/>
                  </a:lnTo>
                  <a:lnTo>
                    <a:pt x="0" y="1653606"/>
                  </a:lnTo>
                  <a:close/>
                </a:path>
              </a:pathLst>
            </a:custGeom>
            <a:solidFill>
              <a:srgbClr val="000000">
                <a:alpha val="0"/>
              </a:srgbClr>
            </a:solidFill>
          </p:spPr>
        </p:sp>
        <p:sp>
          <p:nvSpPr>
            <p:cNvPr name="TextBox 25" id="25"/>
            <p:cNvSpPr txBox="true"/>
            <p:nvPr/>
          </p:nvSpPr>
          <p:spPr>
            <a:xfrm>
              <a:off x="0" y="-104775"/>
              <a:ext cx="13367396" cy="1758381"/>
            </a:xfrm>
            <a:prstGeom prst="rect">
              <a:avLst/>
            </a:prstGeom>
          </p:spPr>
          <p:txBody>
            <a:bodyPr anchor="t" rtlCol="false" tIns="0" lIns="0" bIns="0" rIns="0"/>
            <a:lstStyle/>
            <a:p>
              <a:pPr algn="l">
                <a:lnSpc>
                  <a:spcPts val="4785"/>
                </a:lnSpc>
              </a:pPr>
              <a:r>
                <a:rPr lang="en-US" sz="3000">
                  <a:solidFill>
                    <a:srgbClr val="00002E"/>
                  </a:solidFill>
                  <a:latin typeface="PT Sans"/>
                  <a:ea typeface="PT Sans"/>
                  <a:cs typeface="PT Sans"/>
                  <a:sym typeface="PT Sans"/>
                </a:rPr>
                <a:t>Advanced Analytics: Predict trends using machine learning on logged data.</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3F3FF">
                <a:alpha val="31373"/>
              </a:srgbClr>
            </a:solidFill>
          </p:spPr>
        </p:sp>
      </p:grpSp>
      <p:grpSp>
        <p:nvGrpSpPr>
          <p:cNvPr name="Group 6" id="6"/>
          <p:cNvGrpSpPr/>
          <p:nvPr/>
        </p:nvGrpSpPr>
        <p:grpSpPr>
          <a:xfrm rot="0">
            <a:off x="1047155" y="1007269"/>
            <a:ext cx="7040612" cy="901452"/>
            <a:chOff x="0" y="0"/>
            <a:chExt cx="9387483" cy="1201936"/>
          </a:xfrm>
        </p:grpSpPr>
        <p:sp>
          <p:nvSpPr>
            <p:cNvPr name="Freeform 7" id="7"/>
            <p:cNvSpPr/>
            <p:nvPr/>
          </p:nvSpPr>
          <p:spPr>
            <a:xfrm flipH="false" flipV="false" rot="0">
              <a:off x="0" y="0"/>
              <a:ext cx="9387483" cy="1201936"/>
            </a:xfrm>
            <a:custGeom>
              <a:avLst/>
              <a:gdLst/>
              <a:ahLst/>
              <a:cxnLst/>
              <a:rect r="r" b="b" t="t" l="l"/>
              <a:pathLst>
                <a:path h="1201936" w="9387483">
                  <a:moveTo>
                    <a:pt x="0" y="0"/>
                  </a:moveTo>
                  <a:lnTo>
                    <a:pt x="9387483" y="0"/>
                  </a:lnTo>
                  <a:lnTo>
                    <a:pt x="9387483" y="1201936"/>
                  </a:lnTo>
                  <a:lnTo>
                    <a:pt x="0" y="1201936"/>
                  </a:lnTo>
                  <a:close/>
                </a:path>
              </a:pathLst>
            </a:custGeom>
            <a:solidFill>
              <a:srgbClr val="000000">
                <a:alpha val="0"/>
              </a:srgbClr>
            </a:solidFill>
          </p:spPr>
        </p:sp>
        <p:sp>
          <p:nvSpPr>
            <p:cNvPr name="TextBox 8" id="8"/>
            <p:cNvSpPr txBox="true"/>
            <p:nvPr/>
          </p:nvSpPr>
          <p:spPr>
            <a:xfrm>
              <a:off x="0" y="-28575"/>
              <a:ext cx="9387483" cy="1230511"/>
            </a:xfrm>
            <a:prstGeom prst="rect">
              <a:avLst/>
            </a:prstGeom>
          </p:spPr>
          <p:txBody>
            <a:bodyPr anchor="t" rtlCol="false" tIns="0" lIns="0" bIns="0" rIns="0"/>
            <a:lstStyle/>
            <a:p>
              <a:pPr algn="l">
                <a:lnSpc>
                  <a:spcPts val="6875"/>
                </a:lnSpc>
              </a:pPr>
              <a:r>
                <a:rPr lang="en-US" sz="5500" b="true">
                  <a:solidFill>
                    <a:srgbClr val="00002E"/>
                  </a:solidFill>
                  <a:latin typeface="Nunito Bold"/>
                  <a:ea typeface="Nunito Bold"/>
                  <a:cs typeface="Nunito Bold"/>
                  <a:sym typeface="Nunito Bold"/>
                </a:rPr>
                <a:t>Bibliography</a:t>
              </a:r>
            </a:p>
          </p:txBody>
        </p:sp>
      </p:grpSp>
      <p:grpSp>
        <p:nvGrpSpPr>
          <p:cNvPr name="Group 9" id="9"/>
          <p:cNvGrpSpPr/>
          <p:nvPr/>
        </p:nvGrpSpPr>
        <p:grpSpPr>
          <a:xfrm rot="0">
            <a:off x="1047155" y="2843064"/>
            <a:ext cx="16193690" cy="1491555"/>
            <a:chOff x="0" y="0"/>
            <a:chExt cx="21591587" cy="1988740"/>
          </a:xfrm>
        </p:grpSpPr>
        <p:sp>
          <p:nvSpPr>
            <p:cNvPr name="Freeform 10" id="10"/>
            <p:cNvSpPr/>
            <p:nvPr/>
          </p:nvSpPr>
          <p:spPr>
            <a:xfrm flipH="false" flipV="false" rot="0">
              <a:off x="0" y="0"/>
              <a:ext cx="21591588" cy="1988740"/>
            </a:xfrm>
            <a:custGeom>
              <a:avLst/>
              <a:gdLst/>
              <a:ahLst/>
              <a:cxnLst/>
              <a:rect r="r" b="b" t="t" l="l"/>
              <a:pathLst>
                <a:path h="1988740" w="21591588">
                  <a:moveTo>
                    <a:pt x="0" y="0"/>
                  </a:moveTo>
                  <a:lnTo>
                    <a:pt x="21591588" y="0"/>
                  </a:lnTo>
                  <a:lnTo>
                    <a:pt x="21591588" y="1988740"/>
                  </a:lnTo>
                  <a:lnTo>
                    <a:pt x="0" y="1988740"/>
                  </a:lnTo>
                  <a:close/>
                </a:path>
              </a:pathLst>
            </a:custGeom>
            <a:solidFill>
              <a:srgbClr val="000000">
                <a:alpha val="0"/>
              </a:srgbClr>
            </a:solidFill>
          </p:spPr>
        </p:sp>
        <p:sp>
          <p:nvSpPr>
            <p:cNvPr name="TextBox 11" id="11"/>
            <p:cNvSpPr txBox="true"/>
            <p:nvPr/>
          </p:nvSpPr>
          <p:spPr>
            <a:xfrm>
              <a:off x="0" y="-104775"/>
              <a:ext cx="21591587" cy="2093515"/>
            </a:xfrm>
            <a:prstGeom prst="rect">
              <a:avLst/>
            </a:prstGeom>
          </p:spPr>
          <p:txBody>
            <a:bodyPr anchor="t" rtlCol="false" tIns="0" lIns="0" bIns="0" rIns="0"/>
            <a:lstStyle/>
            <a:p>
              <a:pPr algn="l" marL="529354" indent="-176451" lvl="2">
                <a:lnSpc>
                  <a:spcPts val="4377"/>
                </a:lnSpc>
                <a:buFont typeface="Arial"/>
                <a:buChar char="⚬"/>
              </a:pPr>
              <a:r>
                <a:rPr lang="en-US" sz="2700">
                  <a:solidFill>
                    <a:srgbClr val="00002E"/>
                  </a:solidFill>
                  <a:latin typeface="PT Sans"/>
                  <a:ea typeface="PT Sans"/>
                  <a:cs typeface="PT Sans"/>
                  <a:sym typeface="PT Sans"/>
                </a:rPr>
                <a:t>Arduino Official Documentation (</a:t>
              </a:r>
              <a:r>
                <a:rPr lang="en-US" sz="2700" u="sng">
                  <a:solidFill>
                    <a:srgbClr val="0000FF"/>
                  </a:solidFill>
                  <a:latin typeface="PT Sans"/>
                  <a:ea typeface="PT Sans"/>
                  <a:cs typeface="PT Sans"/>
                  <a:sym typeface="PT Sans"/>
                  <a:hlinkClick r:id="rId4" tooltip="https://www.arduino.cc/"/>
                </a:rPr>
                <a:t>https://www.arduino.cc/</a:t>
              </a:r>
              <a:r>
                <a:rPr lang="en-US" sz="2700">
                  <a:solidFill>
                    <a:srgbClr val="004AAD"/>
                  </a:solidFill>
                  <a:latin typeface="PT Sans"/>
                  <a:ea typeface="PT Sans"/>
                  <a:cs typeface="PT Sans"/>
                  <a:sym typeface="PT Sans"/>
                </a:rPr>
                <a:t>)</a:t>
              </a:r>
              <a:r>
                <a:rPr lang="en-US" sz="2700">
                  <a:solidFill>
                    <a:srgbClr val="00002E"/>
                  </a:solidFill>
                  <a:latin typeface="PT Sans"/>
                  <a:ea typeface="PT Sans"/>
                  <a:cs typeface="PT Sans"/>
                  <a:sym typeface="PT Sans"/>
                </a:rPr>
                <a:t> </a:t>
              </a:r>
            </a:p>
          </p:txBody>
        </p:sp>
      </p:grpSp>
      <p:grpSp>
        <p:nvGrpSpPr>
          <p:cNvPr name="Group 12" id="12"/>
          <p:cNvGrpSpPr/>
          <p:nvPr/>
        </p:nvGrpSpPr>
        <p:grpSpPr>
          <a:xfrm rot="0">
            <a:off x="1051181" y="3545221"/>
            <a:ext cx="16208119" cy="789398"/>
            <a:chOff x="0" y="0"/>
            <a:chExt cx="21610825" cy="1052531"/>
          </a:xfrm>
        </p:grpSpPr>
        <p:sp>
          <p:nvSpPr>
            <p:cNvPr name="Freeform 13" id="13"/>
            <p:cNvSpPr/>
            <p:nvPr/>
          </p:nvSpPr>
          <p:spPr>
            <a:xfrm flipH="false" flipV="false" rot="0">
              <a:off x="0" y="0"/>
              <a:ext cx="21610825" cy="1052531"/>
            </a:xfrm>
            <a:custGeom>
              <a:avLst/>
              <a:gdLst/>
              <a:ahLst/>
              <a:cxnLst/>
              <a:rect r="r" b="b" t="t" l="l"/>
              <a:pathLst>
                <a:path h="1052531" w="21610825">
                  <a:moveTo>
                    <a:pt x="0" y="0"/>
                  </a:moveTo>
                  <a:lnTo>
                    <a:pt x="21610825" y="0"/>
                  </a:lnTo>
                  <a:lnTo>
                    <a:pt x="21610825" y="1052531"/>
                  </a:lnTo>
                  <a:lnTo>
                    <a:pt x="0" y="1052531"/>
                  </a:lnTo>
                  <a:close/>
                </a:path>
              </a:pathLst>
            </a:custGeom>
            <a:solidFill>
              <a:srgbClr val="000000">
                <a:alpha val="0"/>
              </a:srgbClr>
            </a:solidFill>
          </p:spPr>
        </p:sp>
        <p:sp>
          <p:nvSpPr>
            <p:cNvPr name="TextBox 14" id="14"/>
            <p:cNvSpPr txBox="true"/>
            <p:nvPr/>
          </p:nvSpPr>
          <p:spPr>
            <a:xfrm>
              <a:off x="0" y="-104775"/>
              <a:ext cx="21610825" cy="1157306"/>
            </a:xfrm>
            <a:prstGeom prst="rect">
              <a:avLst/>
            </a:prstGeom>
          </p:spPr>
          <p:txBody>
            <a:bodyPr anchor="t" rtlCol="false" tIns="0" lIns="0" bIns="0" rIns="0"/>
            <a:lstStyle/>
            <a:p>
              <a:pPr algn="l" marL="529354" indent="-176451" lvl="2">
                <a:lnSpc>
                  <a:spcPts val="4377"/>
                </a:lnSpc>
                <a:buFont typeface="Arial"/>
                <a:buChar char="⚬"/>
              </a:pPr>
              <a:r>
                <a:rPr lang="en-US" sz="2700" u="sng">
                  <a:solidFill>
                    <a:srgbClr val="0000FF"/>
                  </a:solidFill>
                  <a:latin typeface="PT Sans"/>
                  <a:ea typeface="PT Sans"/>
                  <a:cs typeface="PT Sans"/>
                  <a:sym typeface="PT Sans"/>
                  <a:hlinkClick r:id="rId5" tooltip="https://www.preprints.org/manuscript/202309.0277/v1"/>
                </a:rPr>
                <a:t>Wireless Sensor Networks for Precision Agriculture (Springer, 2018)</a:t>
              </a:r>
            </a:p>
          </p:txBody>
        </p:sp>
      </p:grpSp>
      <p:grpSp>
        <p:nvGrpSpPr>
          <p:cNvPr name="Group 15" id="15"/>
          <p:cNvGrpSpPr/>
          <p:nvPr/>
        </p:nvGrpSpPr>
        <p:grpSpPr>
          <a:xfrm rot="0">
            <a:off x="1047155" y="4248894"/>
            <a:ext cx="16193690" cy="1282304"/>
            <a:chOff x="0" y="0"/>
            <a:chExt cx="21591587" cy="1709739"/>
          </a:xfrm>
        </p:grpSpPr>
        <p:sp>
          <p:nvSpPr>
            <p:cNvPr name="Freeform 16" id="16"/>
            <p:cNvSpPr/>
            <p:nvPr/>
          </p:nvSpPr>
          <p:spPr>
            <a:xfrm flipH="false" flipV="false" rot="0">
              <a:off x="0" y="0"/>
              <a:ext cx="21591588" cy="1709739"/>
            </a:xfrm>
            <a:custGeom>
              <a:avLst/>
              <a:gdLst/>
              <a:ahLst/>
              <a:cxnLst/>
              <a:rect r="r" b="b" t="t" l="l"/>
              <a:pathLst>
                <a:path h="1709739" w="21591588">
                  <a:moveTo>
                    <a:pt x="0" y="0"/>
                  </a:moveTo>
                  <a:lnTo>
                    <a:pt x="21591588" y="0"/>
                  </a:lnTo>
                  <a:lnTo>
                    <a:pt x="21591588" y="1709739"/>
                  </a:lnTo>
                  <a:lnTo>
                    <a:pt x="0" y="1709739"/>
                  </a:lnTo>
                  <a:close/>
                </a:path>
              </a:pathLst>
            </a:custGeom>
            <a:solidFill>
              <a:srgbClr val="000000">
                <a:alpha val="0"/>
              </a:srgbClr>
            </a:solidFill>
          </p:spPr>
        </p:sp>
        <p:sp>
          <p:nvSpPr>
            <p:cNvPr name="TextBox 17" id="17"/>
            <p:cNvSpPr txBox="true"/>
            <p:nvPr/>
          </p:nvSpPr>
          <p:spPr>
            <a:xfrm>
              <a:off x="0" y="-104775"/>
              <a:ext cx="21591587" cy="1814514"/>
            </a:xfrm>
            <a:prstGeom prst="rect">
              <a:avLst/>
            </a:prstGeom>
          </p:spPr>
          <p:txBody>
            <a:bodyPr anchor="t" rtlCol="false" tIns="0" lIns="0" bIns="0" rIns="0"/>
            <a:lstStyle/>
            <a:p>
              <a:pPr algn="l" marL="529354" indent="-176451" lvl="2">
                <a:lnSpc>
                  <a:spcPts val="4377"/>
                </a:lnSpc>
                <a:buFont typeface="Arial"/>
                <a:buChar char="⚬"/>
              </a:pPr>
              <a:r>
                <a:rPr lang="en-US" sz="2700" u="sng">
                  <a:solidFill>
                    <a:srgbClr val="0000FF"/>
                  </a:solidFill>
                  <a:latin typeface="PT Sans"/>
                  <a:ea typeface="PT Sans"/>
                  <a:cs typeface="PT Sans"/>
                  <a:sym typeface="PT Sans"/>
                  <a:hlinkClick r:id="rId6" tooltip="https://www.researchgate.net/publication/378689302_Analyzing_the_efficiency_of_Arduino_UNO_microcontroller_in_monitoring_and_controlling_the_microclimatic_parameters_of_greenhouse?enrichId=rgreq-b5b11963439a31b39867b9c01ec8a159-XXX&amp;enrichSource=Y292ZXJQYWdlOzM3ODY4OTMwMjtBUzoxMTQzMTI4MTIyNzg5NTMyMkAxNzA5Nzk1MzA0NTgx&amp;el=1_x_3"/>
                </a:rPr>
                <a:t>Analyzing the efficiency of Arduino UNO microcontroller in monitoring and controlling the microclimatic parameters of greenhouse (ResearchGate, 2019)</a:t>
              </a:r>
            </a:p>
          </p:txBody>
        </p:sp>
      </p:grpSp>
      <p:grpSp>
        <p:nvGrpSpPr>
          <p:cNvPr name="Group 18" id="18"/>
          <p:cNvGrpSpPr/>
          <p:nvPr/>
        </p:nvGrpSpPr>
        <p:grpSpPr>
          <a:xfrm rot="0">
            <a:off x="1047155" y="5550099"/>
            <a:ext cx="16193690" cy="1282304"/>
            <a:chOff x="0" y="0"/>
            <a:chExt cx="21591587" cy="1709739"/>
          </a:xfrm>
        </p:grpSpPr>
        <p:sp>
          <p:nvSpPr>
            <p:cNvPr name="Freeform 19" id="19"/>
            <p:cNvSpPr/>
            <p:nvPr/>
          </p:nvSpPr>
          <p:spPr>
            <a:xfrm flipH="false" flipV="false" rot="0">
              <a:off x="0" y="0"/>
              <a:ext cx="21591588" cy="1709739"/>
            </a:xfrm>
            <a:custGeom>
              <a:avLst/>
              <a:gdLst/>
              <a:ahLst/>
              <a:cxnLst/>
              <a:rect r="r" b="b" t="t" l="l"/>
              <a:pathLst>
                <a:path h="1709739" w="21591588">
                  <a:moveTo>
                    <a:pt x="0" y="0"/>
                  </a:moveTo>
                  <a:lnTo>
                    <a:pt x="21591588" y="0"/>
                  </a:lnTo>
                  <a:lnTo>
                    <a:pt x="21591588" y="1709739"/>
                  </a:lnTo>
                  <a:lnTo>
                    <a:pt x="0" y="1709739"/>
                  </a:lnTo>
                  <a:close/>
                </a:path>
              </a:pathLst>
            </a:custGeom>
            <a:solidFill>
              <a:srgbClr val="000000">
                <a:alpha val="0"/>
              </a:srgbClr>
            </a:solidFill>
          </p:spPr>
        </p:sp>
        <p:sp>
          <p:nvSpPr>
            <p:cNvPr name="TextBox 20" id="20"/>
            <p:cNvSpPr txBox="true"/>
            <p:nvPr/>
          </p:nvSpPr>
          <p:spPr>
            <a:xfrm>
              <a:off x="0" y="-104775"/>
              <a:ext cx="21591587" cy="1814514"/>
            </a:xfrm>
            <a:prstGeom prst="rect">
              <a:avLst/>
            </a:prstGeom>
          </p:spPr>
          <p:txBody>
            <a:bodyPr anchor="t" rtlCol="false" tIns="0" lIns="0" bIns="0" rIns="0"/>
            <a:lstStyle/>
            <a:p>
              <a:pPr algn="l" marL="529354" indent="-176451" lvl="2">
                <a:lnSpc>
                  <a:spcPts val="4377"/>
                </a:lnSpc>
                <a:buFont typeface="Arial"/>
                <a:buChar char="⚬"/>
              </a:pPr>
              <a:r>
                <a:rPr lang="en-US" sz="2700">
                  <a:solidFill>
                    <a:srgbClr val="00002E"/>
                  </a:solidFill>
                  <a:latin typeface="PT Sans"/>
                  <a:ea typeface="PT Sans"/>
                  <a:cs typeface="PT Sans"/>
                  <a:sym typeface="PT Sans"/>
                </a:rPr>
                <a:t>IoT-based Smart Greenhouse with Disease Prediction using Deep Learning ((IJACSA) International Journal of Advanced Computer Science and Applications) </a:t>
              </a:r>
            </a:p>
          </p:txBody>
        </p:sp>
      </p:grpSp>
      <p:grpSp>
        <p:nvGrpSpPr>
          <p:cNvPr name="Group 21" id="21"/>
          <p:cNvGrpSpPr/>
          <p:nvPr/>
        </p:nvGrpSpPr>
        <p:grpSpPr>
          <a:xfrm rot="0">
            <a:off x="1047155" y="6851303"/>
            <a:ext cx="16193690" cy="1386929"/>
            <a:chOff x="0" y="0"/>
            <a:chExt cx="21591587" cy="1849239"/>
          </a:xfrm>
        </p:grpSpPr>
        <p:sp>
          <p:nvSpPr>
            <p:cNvPr name="Freeform 22" id="22"/>
            <p:cNvSpPr/>
            <p:nvPr/>
          </p:nvSpPr>
          <p:spPr>
            <a:xfrm flipH="false" flipV="false" rot="0">
              <a:off x="0" y="0"/>
              <a:ext cx="21591588" cy="1849239"/>
            </a:xfrm>
            <a:custGeom>
              <a:avLst/>
              <a:gdLst/>
              <a:ahLst/>
              <a:cxnLst/>
              <a:rect r="r" b="b" t="t" l="l"/>
              <a:pathLst>
                <a:path h="1849239" w="21591588">
                  <a:moveTo>
                    <a:pt x="0" y="0"/>
                  </a:moveTo>
                  <a:lnTo>
                    <a:pt x="21591588" y="0"/>
                  </a:lnTo>
                  <a:lnTo>
                    <a:pt x="21591588" y="1849239"/>
                  </a:lnTo>
                  <a:lnTo>
                    <a:pt x="0" y="1849239"/>
                  </a:lnTo>
                  <a:close/>
                </a:path>
              </a:pathLst>
            </a:custGeom>
            <a:solidFill>
              <a:srgbClr val="000000">
                <a:alpha val="0"/>
              </a:srgbClr>
            </a:solidFill>
          </p:spPr>
        </p:sp>
        <p:sp>
          <p:nvSpPr>
            <p:cNvPr name="TextBox 23" id="23"/>
            <p:cNvSpPr txBox="true"/>
            <p:nvPr/>
          </p:nvSpPr>
          <p:spPr>
            <a:xfrm>
              <a:off x="0" y="-104775"/>
              <a:ext cx="21591587" cy="1954014"/>
            </a:xfrm>
            <a:prstGeom prst="rect">
              <a:avLst/>
            </a:prstGeom>
          </p:spPr>
          <p:txBody>
            <a:bodyPr anchor="t" rtlCol="false" tIns="0" lIns="0" bIns="0" rIns="0"/>
            <a:lstStyle/>
            <a:p>
              <a:pPr algn="l" marL="529354" indent="-176451" lvl="2">
                <a:lnSpc>
                  <a:spcPts val="4377"/>
                </a:lnSpc>
                <a:buFont typeface="Arial"/>
                <a:buChar char="⚬"/>
              </a:pPr>
              <a:r>
                <a:rPr lang="en-US" sz="2700" u="sng">
                  <a:solidFill>
                    <a:srgbClr val="0000FF"/>
                  </a:solidFill>
                  <a:latin typeface="PT Sans"/>
                  <a:ea typeface="PT Sans"/>
                  <a:cs typeface="PT Sans"/>
                  <a:sym typeface="PT Sans"/>
                  <a:hlinkClick r:id="rId7" tooltip="https://www.sciencedirect.com/science/article/pii/S187705091930064X"/>
                </a:rPr>
                <a:t>Towards autonomous greenhouses solar-powered </a:t>
              </a:r>
            </a:p>
          </p:txBody>
        </p:sp>
      </p:grpSp>
      <p:grpSp>
        <p:nvGrpSpPr>
          <p:cNvPr name="Group 24" id="24"/>
          <p:cNvGrpSpPr/>
          <p:nvPr/>
        </p:nvGrpSpPr>
        <p:grpSpPr>
          <a:xfrm rot="0">
            <a:off x="1047155" y="7554217"/>
            <a:ext cx="16193690" cy="1613744"/>
            <a:chOff x="0" y="0"/>
            <a:chExt cx="21591587" cy="2151659"/>
          </a:xfrm>
        </p:grpSpPr>
        <p:sp>
          <p:nvSpPr>
            <p:cNvPr name="Freeform 25" id="25"/>
            <p:cNvSpPr/>
            <p:nvPr/>
          </p:nvSpPr>
          <p:spPr>
            <a:xfrm flipH="false" flipV="false" rot="0">
              <a:off x="0" y="0"/>
              <a:ext cx="21591588" cy="2151659"/>
            </a:xfrm>
            <a:custGeom>
              <a:avLst/>
              <a:gdLst/>
              <a:ahLst/>
              <a:cxnLst/>
              <a:rect r="r" b="b" t="t" l="l"/>
              <a:pathLst>
                <a:path h="2151659" w="21591588">
                  <a:moveTo>
                    <a:pt x="0" y="0"/>
                  </a:moveTo>
                  <a:lnTo>
                    <a:pt x="21591588" y="0"/>
                  </a:lnTo>
                  <a:lnTo>
                    <a:pt x="21591588" y="2151659"/>
                  </a:lnTo>
                  <a:lnTo>
                    <a:pt x="0" y="2151659"/>
                  </a:lnTo>
                  <a:close/>
                </a:path>
              </a:pathLst>
            </a:custGeom>
            <a:solidFill>
              <a:srgbClr val="000000">
                <a:alpha val="0"/>
              </a:srgbClr>
            </a:solidFill>
          </p:spPr>
        </p:sp>
        <p:sp>
          <p:nvSpPr>
            <p:cNvPr name="TextBox 26" id="26"/>
            <p:cNvSpPr txBox="true"/>
            <p:nvPr/>
          </p:nvSpPr>
          <p:spPr>
            <a:xfrm>
              <a:off x="0" y="-104775"/>
              <a:ext cx="21591587" cy="2256434"/>
            </a:xfrm>
            <a:prstGeom prst="rect">
              <a:avLst/>
            </a:prstGeom>
          </p:spPr>
          <p:txBody>
            <a:bodyPr anchor="t" rtlCol="false" tIns="0" lIns="0" bIns="0" rIns="0"/>
            <a:lstStyle/>
            <a:p>
              <a:pPr algn="l" marL="529096" indent="-176365" lvl="2">
                <a:lnSpc>
                  <a:spcPts val="4376"/>
                </a:lnSpc>
                <a:buFont typeface="Arial"/>
                <a:buChar char="⚬"/>
              </a:pPr>
              <a:r>
                <a:rPr lang="en-US" sz="2700" u="sng">
                  <a:solidFill>
                    <a:srgbClr val="0000FF"/>
                  </a:solidFill>
                  <a:latin typeface="PT Sans"/>
                  <a:ea typeface="PT Sans"/>
                  <a:cs typeface="PT Sans"/>
                  <a:sym typeface="PT Sans"/>
                  <a:hlinkClick r:id="rId8" tooltip="https://www.researchgate.net/publication/389483978_AI-Powered_Smart_Greenhouses_for_Climate_Control_and_Crop_Growth_Optimization?enrichId=rgreq-46beaf0221d0792a8d1de6d9c9d1e096-XXX&amp;enrichSource=Y292ZXJQYWdlOzM4OTQ4Mzk3ODtBUzoxMTQzMTI4MTMxMjY4OTM0MEAxNzQwODU2Mjg2NTc4&amp;el=1_x_3&amp;_esc=publicationCoverPdf"/>
                </a:rPr>
                <a:t>AI-Powered Smart Greenhouses for Climate Control and Crop Growth Optimizatio </a:t>
              </a:r>
              <a:r>
                <a:rPr lang="en-US" sz="2700">
                  <a:solidFill>
                    <a:srgbClr val="00002E"/>
                  </a:solidFill>
                  <a:latin typeface="PT Sans"/>
                  <a:ea typeface="PT Sans"/>
                  <a:cs typeface="PT Sans"/>
                  <a:sym typeface="PT Sans"/>
                </a:rPr>
                <a:t>(ResearchGate)</a:t>
              </a:r>
            </a:p>
            <a:p>
              <a:pPr algn="l" marL="529096" indent="-176365" lvl="2">
                <a:lnSpc>
                  <a:spcPts val="4376"/>
                </a:lnSpc>
                <a:buFont typeface="Arial"/>
                <a:buChar char="⚬"/>
              </a:pPr>
            </a:p>
            <a:p>
              <a:pPr algn="l" marL="529096" indent="-176365" lvl="2">
                <a:lnSpc>
                  <a:spcPts val="4377"/>
                </a:lnSpc>
                <a:buFont typeface="Arial"/>
                <a:buChar char="⚬"/>
              </a:pPr>
            </a:p>
          </p:txBody>
        </p:sp>
      </p:grpSp>
      <p:sp>
        <p:nvSpPr>
          <p:cNvPr name="TextBox 27" id="27"/>
          <p:cNvSpPr txBox="true"/>
          <p:nvPr/>
        </p:nvSpPr>
        <p:spPr>
          <a:xfrm rot="0">
            <a:off x="1620296" y="8102761"/>
            <a:ext cx="15069889" cy="512751"/>
          </a:xfrm>
          <a:prstGeom prst="rect">
            <a:avLst/>
          </a:prstGeom>
        </p:spPr>
        <p:txBody>
          <a:bodyPr anchor="t" rtlCol="false" tIns="0" lIns="0" bIns="0" rIns="0">
            <a:spAutoFit/>
          </a:bodyPr>
          <a:lstStyle/>
          <a:p>
            <a:pPr algn="ctr">
              <a:lnSpc>
                <a:spcPts val="4377"/>
              </a:lnSpc>
              <a:spcBef>
                <a:spcPct val="0"/>
              </a:spcBef>
            </a:pPr>
            <a:r>
              <a:rPr lang="en-US" sz="2700">
                <a:solidFill>
                  <a:srgbClr val="00002E"/>
                </a:solidFill>
                <a:latin typeface="PT Sans"/>
                <a:ea typeface="PT Sans"/>
                <a:cs typeface="PT Sans"/>
                <a:sym typeface="PT Sans"/>
              </a:rPr>
              <a:t>Monitoring of Smart Greenhouse(International Research Journal of Engineering and Technology (IRJET))</a:t>
            </a:r>
          </a:p>
        </p:txBody>
      </p:sp>
      <p:sp>
        <p:nvSpPr>
          <p:cNvPr name="TextBox 28" id="28"/>
          <p:cNvSpPr txBox="true"/>
          <p:nvPr/>
        </p:nvSpPr>
        <p:spPr>
          <a:xfrm rot="0">
            <a:off x="1620296" y="8673312"/>
            <a:ext cx="16230600" cy="1065201"/>
          </a:xfrm>
          <a:prstGeom prst="rect">
            <a:avLst/>
          </a:prstGeom>
        </p:spPr>
        <p:txBody>
          <a:bodyPr anchor="t" rtlCol="false" tIns="0" lIns="0" bIns="0" rIns="0">
            <a:spAutoFit/>
          </a:bodyPr>
          <a:lstStyle/>
          <a:p>
            <a:pPr algn="l">
              <a:lnSpc>
                <a:spcPts val="4377"/>
              </a:lnSpc>
              <a:spcBef>
                <a:spcPct val="0"/>
              </a:spcBef>
            </a:pPr>
            <a:r>
              <a:rPr lang="en-US" sz="2700">
                <a:solidFill>
                  <a:srgbClr val="00002E"/>
                </a:solidFill>
                <a:latin typeface="PT Sans"/>
                <a:ea typeface="PT Sans"/>
                <a:cs typeface="PT Sans"/>
                <a:sym typeface="PT Sans"/>
              </a:rPr>
              <a:t>Green House Monitoring System using IOT (International Research Journal of Modernization in Engineering Technology and Science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3F3FF">
                <a:alpha val="31373"/>
              </a:srgbClr>
            </a:solidFill>
          </p:spPr>
        </p:sp>
      </p:grpSp>
      <p:grpSp>
        <p:nvGrpSpPr>
          <p:cNvPr name="Group 6" id="6"/>
          <p:cNvGrpSpPr/>
          <p:nvPr/>
        </p:nvGrpSpPr>
        <p:grpSpPr>
          <a:xfrm rot="0">
            <a:off x="5623694" y="4309110"/>
            <a:ext cx="7040612" cy="1640205"/>
            <a:chOff x="0" y="0"/>
            <a:chExt cx="9387483" cy="2186940"/>
          </a:xfrm>
        </p:grpSpPr>
        <p:sp>
          <p:nvSpPr>
            <p:cNvPr name="Freeform 7" id="7"/>
            <p:cNvSpPr/>
            <p:nvPr/>
          </p:nvSpPr>
          <p:spPr>
            <a:xfrm flipH="false" flipV="false" rot="0">
              <a:off x="0" y="0"/>
              <a:ext cx="9387483" cy="2186940"/>
            </a:xfrm>
            <a:custGeom>
              <a:avLst/>
              <a:gdLst/>
              <a:ahLst/>
              <a:cxnLst/>
              <a:rect r="r" b="b" t="t" l="l"/>
              <a:pathLst>
                <a:path h="2186940" w="9387483">
                  <a:moveTo>
                    <a:pt x="0" y="0"/>
                  </a:moveTo>
                  <a:lnTo>
                    <a:pt x="9387483" y="0"/>
                  </a:lnTo>
                  <a:lnTo>
                    <a:pt x="9387483" y="2186940"/>
                  </a:lnTo>
                  <a:lnTo>
                    <a:pt x="0" y="2186940"/>
                  </a:lnTo>
                  <a:close/>
                </a:path>
              </a:pathLst>
            </a:custGeom>
            <a:solidFill>
              <a:srgbClr val="000000">
                <a:alpha val="0"/>
              </a:srgbClr>
            </a:solidFill>
          </p:spPr>
        </p:sp>
        <p:sp>
          <p:nvSpPr>
            <p:cNvPr name="TextBox 8" id="8"/>
            <p:cNvSpPr txBox="true"/>
            <p:nvPr/>
          </p:nvSpPr>
          <p:spPr>
            <a:xfrm>
              <a:off x="0" y="-38100"/>
              <a:ext cx="9387483" cy="2225040"/>
            </a:xfrm>
            <a:prstGeom prst="rect">
              <a:avLst/>
            </a:prstGeom>
          </p:spPr>
          <p:txBody>
            <a:bodyPr anchor="t" rtlCol="false" tIns="0" lIns="0" bIns="0" rIns="0"/>
            <a:lstStyle/>
            <a:p>
              <a:pPr algn="ctr">
                <a:lnSpc>
                  <a:spcPts val="11250"/>
                </a:lnSpc>
              </a:pPr>
              <a:r>
                <a:rPr lang="en-US" sz="9000">
                  <a:solidFill>
                    <a:srgbClr val="00002E"/>
                  </a:solidFill>
                  <a:latin typeface="Fredoka"/>
                  <a:ea typeface="Fredoka"/>
                  <a:cs typeface="Fredoka"/>
                  <a:sym typeface="Fredoka"/>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DAGlvv49hx8</dc:identifier>
  <dcterms:modified xsi:type="dcterms:W3CDTF">2011-08-01T06:04:30Z</dcterms:modified>
  <cp:revision>1</cp:revision>
  <dc:title>Greenhouse-Monitoring-System-using-Arduino.pptx.pptx</dc:title>
</cp:coreProperties>
</file>